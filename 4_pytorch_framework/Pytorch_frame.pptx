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72" r:id="rId2"/>
    <p:sldId id="258" r:id="rId3"/>
    <p:sldId id="273" r:id="rId4"/>
    <p:sldId id="260" r:id="rId5"/>
    <p:sldId id="259" r:id="rId6"/>
    <p:sldId id="267" r:id="rId7"/>
    <p:sldId id="268" r:id="rId8"/>
    <p:sldId id="291" r:id="rId9"/>
    <p:sldId id="293" r:id="rId10"/>
    <p:sldId id="271" r:id="rId11"/>
    <p:sldId id="304" r:id="rId12"/>
    <p:sldId id="300" r:id="rId13"/>
    <p:sldId id="294" r:id="rId14"/>
    <p:sldId id="264" r:id="rId15"/>
    <p:sldId id="270" r:id="rId16"/>
    <p:sldId id="265" r:id="rId17"/>
    <p:sldId id="274" r:id="rId18"/>
    <p:sldId id="266" r:id="rId19"/>
    <p:sldId id="289" r:id="rId20"/>
    <p:sldId id="275" r:id="rId21"/>
    <p:sldId id="279" r:id="rId22"/>
    <p:sldId id="295" r:id="rId23"/>
    <p:sldId id="277" r:id="rId24"/>
    <p:sldId id="276" r:id="rId25"/>
    <p:sldId id="280" r:id="rId26"/>
    <p:sldId id="278" r:id="rId27"/>
    <p:sldId id="281" r:id="rId28"/>
    <p:sldId id="282" r:id="rId29"/>
    <p:sldId id="298" r:id="rId30"/>
    <p:sldId id="299" r:id="rId31"/>
    <p:sldId id="301" r:id="rId32"/>
    <p:sldId id="302" r:id="rId33"/>
    <p:sldId id="288" r:id="rId34"/>
    <p:sldId id="303" r:id="rId35"/>
    <p:sldId id="287" r:id="rId36"/>
    <p:sldId id="297" r:id="rId37"/>
    <p:sldId id="296" r:id="rId38"/>
    <p:sldId id="286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25" userDrawn="1">
          <p15:clr>
            <a:srgbClr val="A4A3A4"/>
          </p15:clr>
        </p15:guide>
        <p15:guide id="3" pos="6516" userDrawn="1">
          <p15:clr>
            <a:srgbClr val="A4A3A4"/>
          </p15:clr>
        </p15:guide>
        <p15:guide id="4" orient="horz" pos="595" userDrawn="1">
          <p15:clr>
            <a:srgbClr val="A4A3A4"/>
          </p15:clr>
        </p15:guide>
        <p15:guide id="5" orient="horz" pos="2251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1049" userDrawn="1">
          <p15:clr>
            <a:srgbClr val="A4A3A4"/>
          </p15:clr>
        </p15:guide>
        <p15:guide id="8" pos="7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9294" autoAdjust="0"/>
  </p:normalViewPr>
  <p:slideViewPr>
    <p:cSldViewPr snapToGrid="0">
      <p:cViewPr varScale="1">
        <p:scale>
          <a:sx n="98" d="100"/>
          <a:sy n="98" d="100"/>
        </p:scale>
        <p:origin x="936" y="90"/>
      </p:cViewPr>
      <p:guideLst>
        <p:guide pos="325"/>
        <p:guide pos="6516"/>
        <p:guide orient="horz" pos="595"/>
        <p:guide orient="horz" pos="2251"/>
        <p:guide pos="3840"/>
        <p:guide orient="horz" pos="1049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66504-E0C3-4EF6-8EA3-38639CAA057D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0E579A-0BE0-4355-B37A-1C97F7997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705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24815" indent="-412115">
              <a:lnSpc>
                <a:spcPct val="100000"/>
              </a:lnSpc>
              <a:spcBef>
                <a:spcPts val="1190"/>
              </a:spcBef>
              <a:buChar char="■"/>
              <a:tabLst>
                <a:tab pos="424815" algn="l"/>
                <a:tab pos="425450" algn="l"/>
              </a:tabLst>
            </a:pPr>
            <a:r>
              <a:rPr lang="en-US" altLang="zh-CN" sz="1600" spc="-5" dirty="0">
                <a:latin typeface="Arial"/>
                <a:cs typeface="Arial"/>
              </a:rPr>
              <a:t>Why we need deep learning</a:t>
            </a:r>
            <a:r>
              <a:rPr lang="en-US" altLang="zh-CN" sz="1600" spc="-80" dirty="0">
                <a:latin typeface="Arial"/>
                <a:cs typeface="Arial"/>
              </a:rPr>
              <a:t> </a:t>
            </a:r>
            <a:r>
              <a:rPr lang="en-US" altLang="zh-CN" sz="1600" spc="-5" dirty="0">
                <a:latin typeface="Arial"/>
                <a:cs typeface="Arial"/>
              </a:rPr>
              <a:t>frameworks</a:t>
            </a:r>
            <a:endParaRPr lang="en-US" altLang="zh-CN" sz="1600" dirty="0">
              <a:latin typeface="Arial"/>
              <a:cs typeface="Arial"/>
            </a:endParaRPr>
          </a:p>
          <a:p>
            <a:pPr marL="405765" indent="-342900">
              <a:lnSpc>
                <a:spcPct val="100000"/>
              </a:lnSpc>
              <a:spcBef>
                <a:spcPts val="819"/>
              </a:spcBef>
              <a:buAutoNum type="arabicParenBoth"/>
              <a:tabLst>
                <a:tab pos="406400" algn="l"/>
              </a:tabLst>
            </a:pPr>
            <a:r>
              <a:rPr lang="en-US" altLang="zh-CN" sz="1200" spc="-5" dirty="0">
                <a:latin typeface="Arial"/>
                <a:cs typeface="Arial"/>
              </a:rPr>
              <a:t>Easily build </a:t>
            </a:r>
            <a:r>
              <a:rPr lang="en-US" altLang="zh-CN" sz="1200" b="1" spc="-5" dirty="0">
                <a:latin typeface="Arial"/>
                <a:cs typeface="Arial"/>
              </a:rPr>
              <a:t>big </a:t>
            </a:r>
            <a:r>
              <a:rPr lang="en-US" altLang="zh-CN" sz="1200" dirty="0">
                <a:latin typeface="Arial"/>
                <a:cs typeface="Arial"/>
              </a:rPr>
              <a:t>computational</a:t>
            </a:r>
            <a:r>
              <a:rPr lang="en-US" altLang="zh-CN" sz="1200" spc="15" dirty="0">
                <a:latin typeface="Arial"/>
                <a:cs typeface="Arial"/>
              </a:rPr>
              <a:t> </a:t>
            </a:r>
            <a:r>
              <a:rPr lang="en-US" altLang="zh-CN" sz="1200" spc="-5" dirty="0">
                <a:latin typeface="Arial"/>
                <a:cs typeface="Arial"/>
              </a:rPr>
              <a:t>graphs</a:t>
            </a:r>
            <a:endParaRPr lang="en-US" altLang="zh-CN" sz="1200" dirty="0">
              <a:latin typeface="Arial"/>
              <a:cs typeface="Arial"/>
            </a:endParaRPr>
          </a:p>
          <a:p>
            <a:pPr marL="405765" indent="-342900">
              <a:lnSpc>
                <a:spcPct val="100000"/>
              </a:lnSpc>
              <a:spcBef>
                <a:spcPts val="765"/>
              </a:spcBef>
              <a:buAutoNum type="arabicParenBoth"/>
              <a:tabLst>
                <a:tab pos="406400" algn="l"/>
              </a:tabLst>
            </a:pPr>
            <a:r>
              <a:rPr lang="en-US" altLang="zh-CN" sz="1200" spc="-5" dirty="0">
                <a:latin typeface="Arial"/>
                <a:cs typeface="Arial"/>
              </a:rPr>
              <a:t>Easily </a:t>
            </a:r>
            <a:r>
              <a:rPr lang="en-US" altLang="zh-CN" sz="1200" dirty="0">
                <a:latin typeface="Arial"/>
                <a:cs typeface="Arial"/>
              </a:rPr>
              <a:t>compute </a:t>
            </a:r>
            <a:r>
              <a:rPr lang="en-US" altLang="zh-CN" sz="1200" b="1" spc="-5" dirty="0">
                <a:latin typeface="Arial"/>
                <a:cs typeface="Arial"/>
              </a:rPr>
              <a:t>gradients </a:t>
            </a:r>
            <a:r>
              <a:rPr lang="en-US" altLang="zh-CN" sz="1200" spc="-5" dirty="0">
                <a:latin typeface="Arial"/>
                <a:cs typeface="Arial"/>
              </a:rPr>
              <a:t>in </a:t>
            </a:r>
            <a:r>
              <a:rPr lang="en-US" altLang="zh-CN" sz="1200" dirty="0">
                <a:latin typeface="Arial"/>
                <a:cs typeface="Arial"/>
              </a:rPr>
              <a:t>computational</a:t>
            </a:r>
            <a:r>
              <a:rPr lang="en-US" altLang="zh-CN" sz="1200" spc="-15" dirty="0">
                <a:latin typeface="Arial"/>
                <a:cs typeface="Arial"/>
              </a:rPr>
              <a:t> </a:t>
            </a:r>
            <a:r>
              <a:rPr lang="en-US" altLang="zh-CN" sz="1200" spc="-5" dirty="0">
                <a:latin typeface="Arial"/>
                <a:cs typeface="Arial"/>
              </a:rPr>
              <a:t>graphs</a:t>
            </a:r>
            <a:endParaRPr lang="en-US" altLang="zh-CN" sz="1200" dirty="0">
              <a:latin typeface="Arial"/>
              <a:cs typeface="Arial"/>
            </a:endParaRPr>
          </a:p>
          <a:p>
            <a:pPr marL="405765" indent="-342900">
              <a:lnSpc>
                <a:spcPct val="100000"/>
              </a:lnSpc>
              <a:spcBef>
                <a:spcPts val="765"/>
              </a:spcBef>
              <a:buAutoNum type="arabicParenBoth"/>
              <a:tabLst>
                <a:tab pos="406400" algn="l"/>
              </a:tabLst>
            </a:pPr>
            <a:r>
              <a:rPr lang="en-US" altLang="zh-CN" sz="1200" spc="-5" dirty="0">
                <a:latin typeface="Arial"/>
                <a:cs typeface="Arial"/>
              </a:rPr>
              <a:t>Run it all efficiently on</a:t>
            </a:r>
            <a:r>
              <a:rPr lang="en-US" altLang="zh-CN" sz="1200" spc="5" dirty="0">
                <a:latin typeface="Arial"/>
                <a:cs typeface="Arial"/>
              </a:rPr>
              <a:t> </a:t>
            </a:r>
            <a:r>
              <a:rPr lang="en-US" altLang="zh-CN" sz="1200" b="1" spc="-5" dirty="0">
                <a:latin typeface="Arial"/>
                <a:cs typeface="Arial"/>
              </a:rPr>
              <a:t>GPU</a:t>
            </a:r>
            <a:endParaRPr lang="en-US" altLang="zh-CN" sz="1200" dirty="0">
              <a:latin typeface="Arial"/>
              <a:cs typeface="Arial"/>
            </a:endParaRPr>
          </a:p>
          <a:p>
            <a:pPr marL="424815" indent="-412115">
              <a:lnSpc>
                <a:spcPct val="100000"/>
              </a:lnSpc>
              <a:spcBef>
                <a:spcPts val="740"/>
              </a:spcBef>
              <a:buChar char="■"/>
              <a:tabLst>
                <a:tab pos="424815" algn="l"/>
                <a:tab pos="425450" algn="l"/>
              </a:tabLst>
            </a:pPr>
            <a:r>
              <a:rPr lang="en-US" altLang="zh-CN" sz="1600" spc="-5" dirty="0">
                <a:latin typeface="Arial"/>
                <a:cs typeface="Arial"/>
              </a:rPr>
              <a:t>Why we need</a:t>
            </a:r>
            <a:r>
              <a:rPr lang="en-US" altLang="zh-CN" sz="1600" spc="-20" dirty="0">
                <a:latin typeface="Arial"/>
                <a:cs typeface="Arial"/>
              </a:rPr>
              <a:t> </a:t>
            </a:r>
            <a:r>
              <a:rPr lang="en-US" altLang="zh-CN" sz="1600" spc="-5" dirty="0" err="1">
                <a:latin typeface="Arial"/>
                <a:cs typeface="Arial"/>
              </a:rPr>
              <a:t>Pytorch</a:t>
            </a:r>
            <a:r>
              <a:rPr lang="en-US" altLang="zh-CN" sz="1600" spc="-5" dirty="0">
                <a:latin typeface="Arial"/>
                <a:cs typeface="Arial"/>
              </a:rPr>
              <a:t>?</a:t>
            </a:r>
            <a:endParaRPr lang="en-US" altLang="zh-CN" sz="1600" dirty="0">
              <a:latin typeface="Arial"/>
              <a:cs typeface="Arial"/>
            </a:endParaRPr>
          </a:p>
          <a:p>
            <a:pPr marL="405765" indent="-342900">
              <a:lnSpc>
                <a:spcPct val="100000"/>
              </a:lnSpc>
              <a:spcBef>
                <a:spcPts val="819"/>
              </a:spcBef>
              <a:buAutoNum type="arabicParenBoth"/>
              <a:tabLst>
                <a:tab pos="406400" algn="l"/>
              </a:tabLst>
            </a:pPr>
            <a:r>
              <a:rPr lang="en-US" altLang="zh-CN" sz="1200" spc="-5" dirty="0">
                <a:latin typeface="Arial"/>
                <a:cs typeface="Arial"/>
              </a:rPr>
              <a:t>Easy to implement, </a:t>
            </a:r>
            <a:r>
              <a:rPr lang="en-US" altLang="zh-CN" sz="1200" dirty="0">
                <a:latin typeface="Arial"/>
                <a:cs typeface="Arial"/>
              </a:rPr>
              <a:t>code, </a:t>
            </a:r>
            <a:r>
              <a:rPr lang="en-US" altLang="zh-CN" sz="1200" spc="-5" dirty="0">
                <a:latin typeface="Arial"/>
                <a:cs typeface="Arial"/>
              </a:rPr>
              <a:t>and</a:t>
            </a:r>
            <a:r>
              <a:rPr lang="en-US" altLang="zh-CN" sz="1200" spc="-30" dirty="0">
                <a:latin typeface="Arial"/>
                <a:cs typeface="Arial"/>
              </a:rPr>
              <a:t> </a:t>
            </a:r>
            <a:r>
              <a:rPr lang="en-US" altLang="zh-CN" sz="1200" spc="-5" dirty="0">
                <a:latin typeface="Arial"/>
                <a:cs typeface="Arial"/>
              </a:rPr>
              <a:t>debug</a:t>
            </a:r>
            <a:endParaRPr lang="en-US" altLang="zh-CN" sz="1200" dirty="0">
              <a:latin typeface="Arial"/>
              <a:cs typeface="Arial"/>
            </a:endParaRPr>
          </a:p>
          <a:p>
            <a:pPr marL="405765" indent="-342900">
              <a:lnSpc>
                <a:spcPct val="100000"/>
              </a:lnSpc>
              <a:spcBef>
                <a:spcPts val="765"/>
              </a:spcBef>
              <a:buAutoNum type="arabicParenBoth"/>
              <a:tabLst>
                <a:tab pos="406400" algn="l"/>
              </a:tabLst>
            </a:pPr>
            <a:r>
              <a:rPr lang="en-US" altLang="zh-CN" sz="1200" dirty="0">
                <a:latin typeface="Arial"/>
                <a:cs typeface="Arial"/>
              </a:rPr>
              <a:t>More </a:t>
            </a:r>
            <a:r>
              <a:rPr lang="en-US" altLang="zh-CN" sz="1200" spc="-5" dirty="0">
                <a:latin typeface="Arial"/>
                <a:cs typeface="Arial"/>
              </a:rPr>
              <a:t>flexible due to its </a:t>
            </a:r>
            <a:r>
              <a:rPr lang="en-US" altLang="zh-CN" sz="1200" b="1" spc="-5" dirty="0">
                <a:latin typeface="Arial"/>
                <a:cs typeface="Arial"/>
              </a:rPr>
              <a:t>dynamic </a:t>
            </a:r>
            <a:r>
              <a:rPr lang="en-US" altLang="zh-CN" sz="1200" dirty="0">
                <a:latin typeface="Arial"/>
                <a:cs typeface="Arial"/>
              </a:rPr>
              <a:t>computational</a:t>
            </a:r>
            <a:r>
              <a:rPr lang="en-US" altLang="zh-CN" sz="1200" spc="-30" dirty="0">
                <a:latin typeface="Arial"/>
                <a:cs typeface="Arial"/>
              </a:rPr>
              <a:t> </a:t>
            </a:r>
            <a:r>
              <a:rPr lang="en-US" altLang="zh-CN" sz="1200" spc="-5" dirty="0">
                <a:latin typeface="Arial"/>
                <a:cs typeface="Arial"/>
              </a:rPr>
              <a:t>graph.</a:t>
            </a:r>
            <a:endParaRPr lang="en-US" altLang="zh-CN" sz="1200" dirty="0">
              <a:latin typeface="Arial"/>
              <a:cs typeface="Arial"/>
            </a:endParaRPr>
          </a:p>
          <a:p>
            <a:pPr marL="405765" indent="-342900">
              <a:lnSpc>
                <a:spcPct val="100000"/>
              </a:lnSpc>
              <a:spcBef>
                <a:spcPts val="765"/>
              </a:spcBef>
              <a:buAutoNum type="arabicParenBoth"/>
              <a:tabLst>
                <a:tab pos="406400" algn="l"/>
              </a:tabLst>
            </a:pPr>
            <a:r>
              <a:rPr lang="en-US" altLang="zh-CN" sz="1200" spc="-5" dirty="0">
                <a:latin typeface="Arial"/>
                <a:cs typeface="Arial"/>
              </a:rPr>
              <a:t>High execution efficiency, </a:t>
            </a:r>
            <a:r>
              <a:rPr lang="en-US" altLang="zh-CN" sz="1200" dirty="0">
                <a:latin typeface="Arial"/>
                <a:cs typeface="Arial"/>
              </a:rPr>
              <a:t>since </a:t>
            </a:r>
            <a:r>
              <a:rPr lang="en-US" altLang="zh-CN" sz="1200" spc="-5" dirty="0">
                <a:latin typeface="Arial"/>
                <a:cs typeface="Arial"/>
              </a:rPr>
              <a:t>it developed from</a:t>
            </a:r>
            <a:r>
              <a:rPr lang="en-US" altLang="zh-CN" sz="1200" spc="-60" dirty="0">
                <a:latin typeface="Arial"/>
                <a:cs typeface="Arial"/>
              </a:rPr>
              <a:t> </a:t>
            </a:r>
            <a:r>
              <a:rPr lang="en-US" altLang="zh-CN" sz="1200" spc="-5" dirty="0">
                <a:latin typeface="Arial"/>
                <a:cs typeface="Arial"/>
              </a:rPr>
              <a:t>C.</a:t>
            </a:r>
            <a:endParaRPr lang="en-US" altLang="zh-CN" sz="1200" dirty="0">
              <a:latin typeface="Arial"/>
              <a:cs typeface="Arial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E579A-0BE0-4355-B37A-1C97F7997C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890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0E579A-0BE0-4355-B37A-1C97F7997C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437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E579A-0BE0-4355-B37A-1C97F7997C5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635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30C92E-55FF-4948-940C-296D9BD53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D3735E-A4D7-43EA-A144-E82A4D03D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837A88-7088-4ADE-8A78-0B2DEB895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8A92D-848E-4107-B874-2A4C5D5D401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ED7B5D-E3E4-4876-A2CB-8AC72043D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1BF705-06E6-49F4-8413-15BB25882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F1351-85E0-4810-82A7-FE39FE20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681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F63224-0C48-45BA-894E-3AA07414A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472" y="1300139"/>
            <a:ext cx="11075437" cy="4819167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F1BBC3-587A-48CC-8D89-35146734B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8A92D-848E-4107-B874-2A4C5D5D401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3C0623-A040-46EE-BB75-F8C4020F8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F771AE-B968-49D0-9674-779DB1698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F1351-85E0-4810-82A7-FE39FE20A3E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6E62752-16FA-44E3-8071-D408B360B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12" y="39931"/>
            <a:ext cx="10515600" cy="940528"/>
          </a:xfrm>
        </p:spPr>
        <p:txBody>
          <a:bodyPr>
            <a:normAutofit/>
          </a:bodyPr>
          <a:lstStyle>
            <a:lvl1pPr>
              <a:defRPr sz="4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8A40BC4-6704-49DA-844D-AAE66B54479D}"/>
              </a:ext>
            </a:extLst>
          </p:cNvPr>
          <p:cNvGrpSpPr/>
          <p:nvPr userDrawn="1"/>
        </p:nvGrpSpPr>
        <p:grpSpPr>
          <a:xfrm>
            <a:off x="0" y="955576"/>
            <a:ext cx="11072327" cy="49764"/>
            <a:chOff x="342122" y="873500"/>
            <a:chExt cx="8304245" cy="37323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B8D3C422-2538-402C-A7FF-B40A41C75100}"/>
                </a:ext>
              </a:extLst>
            </p:cNvPr>
            <p:cNvCxnSpPr/>
            <p:nvPr/>
          </p:nvCxnSpPr>
          <p:spPr>
            <a:xfrm>
              <a:off x="342122" y="873500"/>
              <a:ext cx="8304245" cy="0"/>
            </a:xfrm>
            <a:prstGeom prst="line">
              <a:avLst/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5D22BB03-7A9B-4B72-A718-32ABE5FF03E8}"/>
                </a:ext>
              </a:extLst>
            </p:cNvPr>
            <p:cNvCxnSpPr/>
            <p:nvPr/>
          </p:nvCxnSpPr>
          <p:spPr>
            <a:xfrm>
              <a:off x="342122" y="910823"/>
              <a:ext cx="5250025" cy="0"/>
            </a:xfrm>
            <a:prstGeom prst="line">
              <a:avLst/>
            </a:prstGeom>
            <a:ln w="76200">
              <a:solidFill>
                <a:srgbClr val="6F1B1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C9323990-52E9-4AC3-BC04-EB7DCF7D19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241" y="234643"/>
            <a:ext cx="1672086" cy="51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013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F1ACE9-D08A-4F74-A6ED-E8021321F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4052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2C1C58-B48C-4401-AD27-442DF01BE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1988" y="1351172"/>
            <a:ext cx="5181600" cy="435133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9B4902-48AA-4B36-BF70-3313E7584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62600" y="1347997"/>
            <a:ext cx="5181600" cy="435133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1DA240-3D1B-4812-A994-0B1EFA1D0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8A92D-848E-4107-B874-2A4C5D5D401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C8C010-D629-46BA-93DD-5BFBC19F2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A7BD66-21C7-43B8-BFCA-EE9E019FB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F1351-85E0-4810-82A7-FE39FE20A3E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40D7F1F-4DC4-48D1-BD60-8985838B8AFE}"/>
              </a:ext>
            </a:extLst>
          </p:cNvPr>
          <p:cNvGrpSpPr/>
          <p:nvPr userDrawn="1"/>
        </p:nvGrpSpPr>
        <p:grpSpPr>
          <a:xfrm>
            <a:off x="229740" y="940528"/>
            <a:ext cx="11072327" cy="49764"/>
            <a:chOff x="342122" y="873500"/>
            <a:chExt cx="8304245" cy="37323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F313F9C4-3222-4241-88F2-BFE3D5A57A83}"/>
                </a:ext>
              </a:extLst>
            </p:cNvPr>
            <p:cNvCxnSpPr/>
            <p:nvPr/>
          </p:nvCxnSpPr>
          <p:spPr>
            <a:xfrm>
              <a:off x="342122" y="873500"/>
              <a:ext cx="8304245" cy="0"/>
            </a:xfrm>
            <a:prstGeom prst="line">
              <a:avLst/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ACB43438-DFB5-4105-938E-0525C96A703C}"/>
                </a:ext>
              </a:extLst>
            </p:cNvPr>
            <p:cNvCxnSpPr/>
            <p:nvPr/>
          </p:nvCxnSpPr>
          <p:spPr>
            <a:xfrm>
              <a:off x="342122" y="910823"/>
              <a:ext cx="5250025" cy="0"/>
            </a:xfrm>
            <a:prstGeom prst="line">
              <a:avLst/>
            </a:prstGeom>
            <a:ln w="76200">
              <a:solidFill>
                <a:srgbClr val="6F1B1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4048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B34592-47AC-49DE-B058-C539D3BE2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A13FF9-5701-4242-8769-8C9DA3504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B53D75-EFFB-4ECA-A919-085A96B8B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8A92D-848E-4107-B874-2A4C5D5D401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2673AD-CBC3-4704-81C2-5FDD3E9D1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75ECBA-5C8C-415D-8A5D-F5106774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F1351-85E0-4810-82A7-FE39FE20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717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1B8B71-B0FC-47D6-9B8E-30100E74E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F845C5-EE6D-45BE-8839-5B05AFAD1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F6BE0C-C7D5-4623-A9C8-B5CE26C36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4312D05-B178-49E8-BE14-B3F5884E79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CB9B712-17BC-4030-851D-7483EBCE8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AAEF8A3-6162-4F78-8A4B-C00D95BBA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8A92D-848E-4107-B874-2A4C5D5D401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D5438DB-19B0-4C1C-A11F-BD6079093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88C962-ECD4-4107-9CC1-61730DFD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F1351-85E0-4810-82A7-FE39FE20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31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66F93E-1A58-4A42-A05B-79368A0A5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F81569-BB53-4D28-9F09-975EF8B3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8A92D-848E-4107-B874-2A4C5D5D401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9F7C37-A0AF-4ECF-B0FC-4C0BED3A9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A15F9B-B7EB-4899-9BB2-9482A843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F1351-85E0-4810-82A7-FE39FE20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34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96563A0-0682-47B2-BB66-6502DD2B0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8A92D-848E-4107-B874-2A4C5D5D401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411D96-795C-4960-AA23-09CD01E64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6038A-F568-4F8A-864B-F1F801204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F1351-85E0-4810-82A7-FE39FE20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902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2F7789-CA3A-4E30-8083-61C45C75C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E3717C-2891-423F-8911-B4AE3D972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6F89A0-98EC-477D-A2F5-D3DFFC882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F41E41-992B-4895-B755-9C2D7527E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8A92D-848E-4107-B874-2A4C5D5D401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418017-09E8-4F47-8EF1-4B7DCAB1B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315A85-2289-422F-A167-C6DDB51F4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F1351-85E0-4810-82A7-FE39FE20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312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F97A98-015C-4646-AFDE-B7BB5DDFD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7C95397-A512-429E-AAC2-29B0AC6EDD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3973A7-37B5-449D-91ED-47B689499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16F05C-C60C-45B4-B95A-44EF11719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8A92D-848E-4107-B874-2A4C5D5D401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7EB2CE-0EA1-4E07-8DE2-205F0CD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543636-BFD9-4FD7-9D19-0735748AF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F1351-85E0-4810-82A7-FE39FE20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487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D60B0-E5A0-41D3-839F-8B009F0E2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AB6A05-9B49-4849-87AC-95E7F296D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6C680F-A772-409B-AB87-69E415893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8A92D-848E-4107-B874-2A4C5D5D401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607C5F-883F-49B4-8F0D-7ED5C8E55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3F609D-13A0-4AA8-831B-AC7076436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F1351-85E0-4810-82A7-FE39FE20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163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BF9813B-F269-413A-93B5-9D3CB5CE0A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D04595-E9AC-409A-BC75-D83E12341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DFCD46-6F39-4F30-85A3-DA12F0CE6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8A92D-848E-4107-B874-2A4C5D5D401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6CDEB5-C0CC-4204-BBD8-3D1D9BFD3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DA1840-7AA9-4B88-AD84-CBD3516CC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F1351-85E0-4810-82A7-FE39FE20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398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1763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B77E6A4-E660-498E-9430-8B26AC4AB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6C52B2-1141-4F61-8B8F-02877672E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6587A8-0B9C-45D6-B8DC-C54359E29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8A92D-848E-4107-B874-2A4C5D5D401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4E26F4-EA36-4B9A-9A8A-8C542DA82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E8B6E3-52BA-4450-849B-A72B2C986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F1351-85E0-4810-82A7-FE39FE20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366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jp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nvidia.com/cuda-90-download-archive2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po.anaconda.com/archive/Anaconda3-5.2.0-Windows-x86_64.exe3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docs/master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orch.org/tutorials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0.0.0.0:6006/" TargetMode="External"/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oldpan.me/archives/pytorch-cuda-c-plus-plus" TargetMode="External"/><Relationship Id="rId2" Type="http://schemas.openxmlformats.org/officeDocument/2006/relationships/hyperlink" Target="https://cdn2.jianshu.io/p/4ec8e310495d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zhuanlan.zhihu.com/p/35675109" TargetMode="External"/><Relationship Id="rId4" Type="http://schemas.openxmlformats.org/officeDocument/2006/relationships/hyperlink" Target="https://blog.csdn.net/wangbin12122224/article/details/79949824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descr="E:\owncloud\刘达\2017年\深蓝学院\PPT模板\ppt1封面a.pngppt1封面a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34" y="0"/>
            <a:ext cx="12216553" cy="68592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80088" y="2225346"/>
            <a:ext cx="76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 err="1">
                <a:solidFill>
                  <a:srgbClr val="464646"/>
                </a:solidFill>
                <a:latin typeface="+mn-ea"/>
              </a:rPr>
              <a:t>Pytorch</a:t>
            </a:r>
            <a:r>
              <a:rPr lang="zh-CN" altLang="en-US" sz="4000" b="1" dirty="0">
                <a:solidFill>
                  <a:srgbClr val="464646"/>
                </a:solidFill>
                <a:latin typeface="+mn-ea"/>
              </a:rPr>
              <a:t>框架介绍</a:t>
            </a:r>
          </a:p>
        </p:txBody>
      </p:sp>
      <p:pic>
        <p:nvPicPr>
          <p:cNvPr id="9" name="图片 8" descr="E:\owncloud\刘达\2017年\深蓝学院\logo\导出图\深蓝学院-标准色.png深蓝学院-标准色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0088" y="530507"/>
            <a:ext cx="2418927" cy="742487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80088" y="5213741"/>
            <a:ext cx="2418927" cy="37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33" b="1" dirty="0">
                <a:solidFill>
                  <a:srgbClr val="464646"/>
                </a:solidFill>
                <a:latin typeface="微软雅黑" panose="020B0503020204020204" charset="-122"/>
                <a:ea typeface="微软雅黑" panose="020B0503020204020204" charset="-122"/>
              </a:rPr>
              <a:t>中国科学院自动化研究所</a:t>
            </a:r>
            <a:endParaRPr lang="en-US" altLang="zh-CN" sz="933" b="1" dirty="0">
              <a:solidFill>
                <a:srgbClr val="46464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933" b="1" dirty="0">
                <a:solidFill>
                  <a:srgbClr val="464646"/>
                </a:solidFill>
                <a:latin typeface="微软雅黑" panose="020B0503020204020204" charset="-122"/>
                <a:ea typeface="微软雅黑" panose="020B0503020204020204" charset="-122"/>
              </a:rPr>
              <a:t>模式识别国家重点实验室</a:t>
            </a:r>
          </a:p>
        </p:txBody>
      </p:sp>
      <p:sp>
        <p:nvSpPr>
          <p:cNvPr id="17" name="矩形 16"/>
          <p:cNvSpPr/>
          <p:nvPr/>
        </p:nvSpPr>
        <p:spPr>
          <a:xfrm>
            <a:off x="793541" y="4858988"/>
            <a:ext cx="1346200" cy="266700"/>
          </a:xfrm>
          <a:prstGeom prst="rect">
            <a:avLst/>
          </a:prstGeom>
          <a:solidFill>
            <a:schemeClr val="bg1"/>
          </a:solidFill>
          <a:ln w="6350">
            <a:solidFill>
              <a:srgbClr val="4646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9" name="文本框 18"/>
          <p:cNvSpPr txBox="1"/>
          <p:nvPr/>
        </p:nvSpPr>
        <p:spPr>
          <a:xfrm>
            <a:off x="1385813" y="4820024"/>
            <a:ext cx="9290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464646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600" b="1" dirty="0">
                <a:solidFill>
                  <a:srgbClr val="464646"/>
                </a:solidFill>
                <a:latin typeface="微软雅黑" panose="020B0503020204020204" charset="-122"/>
                <a:ea typeface="微软雅黑" panose="020B0503020204020204" charset="-122"/>
              </a:rPr>
              <a:t>洪振</a:t>
            </a:r>
          </a:p>
        </p:txBody>
      </p:sp>
      <p:sp>
        <p:nvSpPr>
          <p:cNvPr id="20" name="矩形 19"/>
          <p:cNvSpPr/>
          <p:nvPr/>
        </p:nvSpPr>
        <p:spPr>
          <a:xfrm>
            <a:off x="793541" y="4858988"/>
            <a:ext cx="672000" cy="266700"/>
          </a:xfrm>
          <a:prstGeom prst="rect">
            <a:avLst/>
          </a:prstGeom>
          <a:solidFill>
            <a:srgbClr val="46464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文本框 17"/>
          <p:cNvSpPr txBox="1"/>
          <p:nvPr/>
        </p:nvSpPr>
        <p:spPr>
          <a:xfrm>
            <a:off x="713396" y="4825104"/>
            <a:ext cx="9025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主讲人</a:t>
            </a:r>
          </a:p>
        </p:txBody>
      </p:sp>
    </p:spTree>
    <p:extLst>
      <p:ext uri="{BB962C8B-B14F-4D97-AF65-F5344CB8AC3E}">
        <p14:creationId xmlns:p14="http://schemas.microsoft.com/office/powerpoint/2010/main" val="495076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B8D251E-700D-4531-B093-D4D135909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4" y="1426945"/>
            <a:ext cx="9798345" cy="4819167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1600" dirty="0"/>
              <a:t>目标：</a:t>
            </a:r>
            <a:endParaRPr lang="en-US" altLang="zh-CN" sz="1600" dirty="0"/>
          </a:p>
          <a:p>
            <a:pPr lvl="1">
              <a:lnSpc>
                <a:spcPct val="200000"/>
              </a:lnSpc>
            </a:pPr>
            <a:r>
              <a:rPr lang="zh-CN" altLang="en-US" sz="1400" dirty="0"/>
              <a:t>熟悉</a:t>
            </a:r>
            <a:r>
              <a:rPr lang="en-US" altLang="zh-CN" sz="1400" dirty="0" err="1"/>
              <a:t>pytorch</a:t>
            </a:r>
            <a:r>
              <a:rPr lang="zh-CN" altLang="en-US" sz="1400" dirty="0"/>
              <a:t>工作原理和基本元素</a:t>
            </a:r>
            <a:endParaRPr lang="en-US" altLang="zh-CN" sz="1400" dirty="0"/>
          </a:p>
          <a:p>
            <a:pPr lvl="1">
              <a:lnSpc>
                <a:spcPct val="200000"/>
              </a:lnSpc>
            </a:pPr>
            <a:r>
              <a:rPr lang="zh-CN" altLang="en-US" sz="1400" dirty="0"/>
              <a:t>利用</a:t>
            </a:r>
            <a:r>
              <a:rPr lang="en-US" altLang="zh-CN" sz="1400" dirty="0" err="1"/>
              <a:t>pytorch</a:t>
            </a:r>
            <a:r>
              <a:rPr lang="zh-CN" altLang="en-US" sz="1400" dirty="0"/>
              <a:t>构建网络</a:t>
            </a:r>
            <a:endParaRPr lang="en-US" altLang="zh-CN" sz="1400" dirty="0"/>
          </a:p>
          <a:p>
            <a:pPr lvl="1">
              <a:lnSpc>
                <a:spcPct val="200000"/>
              </a:lnSpc>
            </a:pPr>
            <a:r>
              <a:rPr lang="zh-CN" altLang="en-US" sz="1400" dirty="0"/>
              <a:t>了解一些工具包、函数库以及常见问题解决办法</a:t>
            </a:r>
            <a:endParaRPr lang="en-US" altLang="zh-CN" sz="1400" dirty="0"/>
          </a:p>
          <a:p>
            <a:pPr marL="0" indent="0"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1600" dirty="0"/>
              <a:t>基础储备：</a:t>
            </a:r>
            <a:endParaRPr lang="en-US" altLang="zh-CN" sz="1600" dirty="0"/>
          </a:p>
          <a:p>
            <a:pPr lvl="1">
              <a:lnSpc>
                <a:spcPct val="200000"/>
              </a:lnSpc>
            </a:pPr>
            <a:r>
              <a:rPr lang="zh-CN" altLang="en-US" sz="1400" dirty="0"/>
              <a:t>熟悉</a:t>
            </a:r>
            <a:r>
              <a:rPr lang="en-US" altLang="zh-CN" sz="1400" dirty="0"/>
              <a:t>python</a:t>
            </a:r>
          </a:p>
          <a:p>
            <a:pPr lvl="1">
              <a:lnSpc>
                <a:spcPct val="200000"/>
              </a:lnSpc>
            </a:pPr>
            <a:r>
              <a:rPr lang="zh-CN" altLang="en-US" sz="1400" dirty="0"/>
              <a:t>了解</a:t>
            </a:r>
            <a:r>
              <a:rPr lang="en-US" altLang="zh-CN" sz="1400" dirty="0"/>
              <a:t>CNN</a:t>
            </a:r>
            <a:r>
              <a:rPr lang="zh-CN" altLang="en-US" sz="1400" dirty="0"/>
              <a:t>前向、反向传播过程</a:t>
            </a:r>
            <a:endParaRPr lang="en-US" altLang="zh-CN" sz="1400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7CA4D7B-8F0B-4FAC-8003-325656CB9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25" y="486888"/>
            <a:ext cx="2367164" cy="458495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课程内容</a:t>
            </a:r>
          </a:p>
        </p:txBody>
      </p:sp>
    </p:spTree>
    <p:extLst>
      <p:ext uri="{BB962C8B-B14F-4D97-AF65-F5344CB8AC3E}">
        <p14:creationId xmlns:p14="http://schemas.microsoft.com/office/powerpoint/2010/main" val="2904527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F36AA8D-C796-427D-9118-947AEA19A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818" y="1511883"/>
            <a:ext cx="12061923" cy="2459411"/>
          </a:xfrm>
        </p:spPr>
        <p:txBody>
          <a:bodyPr/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zh-CN" altLang="en-US" sz="1600" b="1" dirty="0"/>
              <a:t>深度学习框架</a:t>
            </a:r>
            <a:r>
              <a:rPr lang="en-US" altLang="zh-CN" sz="1600" b="1" dirty="0" err="1"/>
              <a:t>Pytorch</a:t>
            </a:r>
            <a:r>
              <a:rPr lang="zh-CN" altLang="en-US" sz="1600" b="1" dirty="0"/>
              <a:t>简介</a:t>
            </a:r>
            <a:endParaRPr lang="en-US" altLang="zh-CN" sz="1600" b="1" dirty="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en-US" altLang="zh-CN" sz="1600" b="1" dirty="0" err="1">
                <a:solidFill>
                  <a:prstClr val="black"/>
                </a:solidFill>
              </a:rPr>
              <a:t>Pytorch</a:t>
            </a:r>
            <a:r>
              <a:rPr lang="zh-CN" altLang="en-US" sz="1600" b="1" dirty="0">
                <a:solidFill>
                  <a:prstClr val="black"/>
                </a:solidFill>
              </a:rPr>
              <a:t>安装</a:t>
            </a:r>
            <a:endParaRPr lang="en-US" altLang="zh-CN" sz="1600" b="1" dirty="0">
              <a:solidFill>
                <a:prstClr val="black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en-US" altLang="zh-CN" sz="1600" b="1" dirty="0" err="1">
                <a:solidFill>
                  <a:prstClr val="black"/>
                </a:solidFill>
              </a:rPr>
              <a:t>Pytorch</a:t>
            </a:r>
            <a:r>
              <a:rPr lang="zh-CN" altLang="en-US" sz="1600" b="1" dirty="0">
                <a:solidFill>
                  <a:prstClr val="black"/>
                </a:solidFill>
              </a:rPr>
              <a:t>的基本组成元素</a:t>
            </a:r>
            <a:endParaRPr lang="en-US" altLang="zh-CN" sz="1600" b="1" dirty="0">
              <a:solidFill>
                <a:prstClr val="black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en-US" altLang="zh-CN" sz="1600" b="1" dirty="0" err="1">
                <a:solidFill>
                  <a:prstClr val="black"/>
                </a:solidFill>
              </a:rPr>
              <a:t>Pytorch</a:t>
            </a:r>
            <a:r>
              <a:rPr lang="zh-CN" altLang="en-US" sz="1600" b="1" dirty="0">
                <a:solidFill>
                  <a:prstClr val="black"/>
                </a:solidFill>
              </a:rPr>
              <a:t>构建神经网络</a:t>
            </a:r>
            <a:endParaRPr lang="en-US" altLang="zh-CN" sz="1600" b="1" dirty="0">
              <a:solidFill>
                <a:prstClr val="black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zh-CN" altLang="en-US" sz="1600" b="1" dirty="0">
                <a:solidFill>
                  <a:prstClr val="black"/>
                </a:solidFill>
              </a:rPr>
              <a:t>进阶部分</a:t>
            </a:r>
            <a:endParaRPr lang="en-US" altLang="zh-CN" sz="1600" b="1" dirty="0">
              <a:solidFill>
                <a:prstClr val="black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AB83EEA-B857-4D2B-8A1C-5ECA46840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38" y="473885"/>
            <a:ext cx="1862172" cy="493899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课程内容</a:t>
            </a:r>
          </a:p>
        </p:txBody>
      </p:sp>
    </p:spTree>
    <p:extLst>
      <p:ext uri="{BB962C8B-B14F-4D97-AF65-F5344CB8AC3E}">
        <p14:creationId xmlns:p14="http://schemas.microsoft.com/office/powerpoint/2010/main" val="2263234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C281747-F690-48F6-A846-31AA88D1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99" y="412946"/>
            <a:ext cx="5775311" cy="531391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目前流行的深度学习框架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27F95A5-796D-4B10-B19F-3E1FA85EF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98542"/>
              </p:ext>
            </p:extLst>
          </p:nvPr>
        </p:nvGraphicFramePr>
        <p:xfrm>
          <a:off x="486099" y="1394779"/>
          <a:ext cx="6050888" cy="316342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34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67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07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84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72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</a:rPr>
                        <a:t>库名称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</a:rPr>
                        <a:t>开发语言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</a:rPr>
                        <a:t>速度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</a:rPr>
                        <a:t>灵活性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  <a:latin typeface="+mn-ea"/>
                          <a:ea typeface="+mn-ea"/>
                        </a:rPr>
                        <a:t>文档</a:t>
                      </a:r>
                      <a:endParaRPr lang="zh-CN" altLang="en-US" sz="120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  <a:latin typeface="+mn-ea"/>
                          <a:ea typeface="+mn-ea"/>
                        </a:rPr>
                        <a:t>适合模型</a:t>
                      </a:r>
                      <a:endParaRPr lang="zh-CN" altLang="en-US" sz="120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</a:rPr>
                        <a:t>平台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</a:rPr>
                        <a:t>上手难易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23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Caffe</a:t>
                      </a:r>
                      <a:endParaRPr lang="en-US" sz="120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c++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cuda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</a:rPr>
                        <a:t>快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</a:rPr>
                        <a:t>一般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</a:rPr>
                        <a:t>全面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CNN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</a:rPr>
                        <a:t>所有系统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  <a:latin typeface="+mn-ea"/>
                          <a:ea typeface="+mn-ea"/>
                        </a:rPr>
                        <a:t>中等</a:t>
                      </a:r>
                      <a:endParaRPr lang="zh-CN" altLang="en-US" sz="120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23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TensorFlow</a:t>
                      </a:r>
                      <a:endParaRPr lang="en-US" sz="120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c++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cuda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200" u="none" strike="noStrike" dirty="0">
                          <a:effectLst/>
                          <a:latin typeface="+mn-ea"/>
                          <a:ea typeface="+mn-ea"/>
                        </a:rPr>
                        <a:t>Python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</a:rPr>
                        <a:t>中等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</a:rPr>
                        <a:t>好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</a:rPr>
                        <a:t>中等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CNN/RNN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strike="noStrike" dirty="0">
                          <a:effectLst/>
                          <a:latin typeface="+mn-ea"/>
                          <a:ea typeface="+mn-ea"/>
                        </a:rPr>
                        <a:t>Linux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, OSX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</a:rPr>
                        <a:t>难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23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Pytorch</a:t>
                      </a:r>
                      <a:endParaRPr lang="en-US" sz="12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python</a:t>
                      </a:r>
                      <a:endParaRPr lang="en-US" sz="12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快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好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中等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CNN/RNN</a:t>
                      </a:r>
                      <a:endParaRPr lang="en-US" sz="12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所有系统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易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2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MXNet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c++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cuda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</a:rPr>
                        <a:t>快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  <a:latin typeface="+mn-ea"/>
                          <a:ea typeface="+mn-ea"/>
                        </a:rPr>
                        <a:t>好</a:t>
                      </a:r>
                      <a:endParaRPr lang="zh-CN" altLang="en-US" sz="120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  <a:latin typeface="+mn-ea"/>
                          <a:ea typeface="+mn-ea"/>
                        </a:rPr>
                        <a:t>全面</a:t>
                      </a:r>
                      <a:endParaRPr lang="zh-CN" altLang="en-US" sz="120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CNN</a:t>
                      </a:r>
                      <a:endParaRPr lang="en-US" sz="120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</a:rPr>
                        <a:t>所有系统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</a:rPr>
                        <a:t>难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2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Torch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c/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lua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cuda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</a:rPr>
                        <a:t>快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  <a:latin typeface="+mn-ea"/>
                          <a:ea typeface="+mn-ea"/>
                        </a:rPr>
                        <a:t>好</a:t>
                      </a:r>
                      <a:endParaRPr lang="zh-CN" altLang="en-US" sz="120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  <a:latin typeface="+mn-ea"/>
                          <a:ea typeface="+mn-ea"/>
                        </a:rPr>
                        <a:t>全面</a:t>
                      </a:r>
                      <a:endParaRPr lang="zh-CN" altLang="en-US" sz="120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CNN/RNN</a:t>
                      </a:r>
                      <a:endParaRPr lang="en-US" sz="120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strike="noStrike" dirty="0" err="1">
                          <a:effectLst/>
                          <a:latin typeface="+mn-ea"/>
                          <a:ea typeface="+mn-ea"/>
                        </a:rPr>
                        <a:t>linux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, OSX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</a:rPr>
                        <a:t>中等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2">
            <a:extLst>
              <a:ext uri="{FF2B5EF4-FFF2-40B4-BE49-F238E27FC236}">
                <a16:creationId xmlns:a16="http://schemas.microsoft.com/office/drawing/2014/main" id="{A222F91A-203E-4F7B-AAA6-3805B3F209E0}"/>
              </a:ext>
            </a:extLst>
          </p:cNvPr>
          <p:cNvSpPr/>
          <p:nvPr/>
        </p:nvSpPr>
        <p:spPr>
          <a:xfrm>
            <a:off x="6894863" y="1394779"/>
            <a:ext cx="4709762" cy="31634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B1E8E8BD-F6DE-425F-A5CD-44E616F9A5AC}"/>
              </a:ext>
            </a:extLst>
          </p:cNvPr>
          <p:cNvSpPr/>
          <p:nvPr/>
        </p:nvSpPr>
        <p:spPr>
          <a:xfrm>
            <a:off x="487229" y="4917699"/>
            <a:ext cx="4142337" cy="1598512"/>
          </a:xfrm>
          <a:prstGeom prst="rect">
            <a:avLst/>
          </a:prstGeom>
          <a:blipFill>
            <a:blip r:embed="rId4" cstate="print"/>
            <a:stretch>
              <a:fillRect t="-39486" r="-48986" b="-6869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9ED91905-FBB3-49C9-A5BF-21DAD27D47EE}"/>
              </a:ext>
            </a:extLst>
          </p:cNvPr>
          <p:cNvSpPr/>
          <p:nvPr/>
        </p:nvSpPr>
        <p:spPr>
          <a:xfrm>
            <a:off x="4766808" y="5875586"/>
            <a:ext cx="4110503" cy="746504"/>
          </a:xfrm>
          <a:prstGeom prst="rect">
            <a:avLst/>
          </a:prstGeom>
          <a:blipFill>
            <a:blip r:embed="rId4" cstate="print"/>
            <a:stretch>
              <a:fillRect t="-308863" r="-50140" b="-36913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3F5848E7-BFC2-41BD-A1FE-7E7D69B49AC3}"/>
              </a:ext>
            </a:extLst>
          </p:cNvPr>
          <p:cNvSpPr/>
          <p:nvPr/>
        </p:nvSpPr>
        <p:spPr>
          <a:xfrm>
            <a:off x="4853171" y="4933944"/>
            <a:ext cx="1543337" cy="906949"/>
          </a:xfrm>
          <a:prstGeom prst="rect">
            <a:avLst/>
          </a:prstGeom>
          <a:blipFill>
            <a:blip r:embed="rId4" cstate="print"/>
            <a:stretch>
              <a:fillRect l="-299880" t="-202966" b="-63949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D0163CB7-1532-49C6-B932-A8FEDAD6EBA9}"/>
              </a:ext>
            </a:extLst>
          </p:cNvPr>
          <p:cNvSpPr/>
          <p:nvPr/>
        </p:nvSpPr>
        <p:spPr>
          <a:xfrm>
            <a:off x="7008944" y="4695122"/>
            <a:ext cx="1543337" cy="1050113"/>
          </a:xfrm>
          <a:prstGeom prst="rect">
            <a:avLst/>
          </a:prstGeom>
          <a:blipFill>
            <a:blip r:embed="rId4" cstate="print"/>
            <a:stretch>
              <a:fillRect l="-299880" t="-60108" b="-156786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481F5F56-2EBB-4B99-BCB5-F31E05CBE055}"/>
              </a:ext>
            </a:extLst>
          </p:cNvPr>
          <p:cNvSpPr/>
          <p:nvPr/>
        </p:nvSpPr>
        <p:spPr>
          <a:xfrm>
            <a:off x="3167952" y="4862804"/>
            <a:ext cx="1005038" cy="728099"/>
          </a:xfrm>
          <a:custGeom>
            <a:avLst/>
            <a:gdLst/>
            <a:ahLst/>
            <a:cxnLst/>
            <a:rect l="l" t="t" r="r" b="b"/>
            <a:pathLst>
              <a:path w="1400809" h="864235">
                <a:moveTo>
                  <a:pt x="0" y="0"/>
                </a:moveTo>
                <a:lnTo>
                  <a:pt x="1400699" y="0"/>
                </a:lnTo>
                <a:lnTo>
                  <a:pt x="1400699" y="863999"/>
                </a:lnTo>
                <a:lnTo>
                  <a:pt x="0" y="863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671B55C1-BCF2-4C9A-832C-A8111E297EE8}"/>
              </a:ext>
            </a:extLst>
          </p:cNvPr>
          <p:cNvSpPr/>
          <p:nvPr/>
        </p:nvSpPr>
        <p:spPr>
          <a:xfrm>
            <a:off x="3167952" y="5716955"/>
            <a:ext cx="1005038" cy="728099"/>
          </a:xfrm>
          <a:custGeom>
            <a:avLst/>
            <a:gdLst/>
            <a:ahLst/>
            <a:cxnLst/>
            <a:rect l="l" t="t" r="r" b="b"/>
            <a:pathLst>
              <a:path w="1400809" h="864235">
                <a:moveTo>
                  <a:pt x="0" y="0"/>
                </a:moveTo>
                <a:lnTo>
                  <a:pt x="1400699" y="0"/>
                </a:lnTo>
                <a:lnTo>
                  <a:pt x="1400699" y="863999"/>
                </a:lnTo>
                <a:lnTo>
                  <a:pt x="0" y="863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79A2C20-BE7A-423F-B4B7-1609C3E9E8DA}"/>
              </a:ext>
            </a:extLst>
          </p:cNvPr>
          <p:cNvSpPr txBox="1"/>
          <p:nvPr/>
        </p:nvSpPr>
        <p:spPr>
          <a:xfrm>
            <a:off x="8555099" y="5341957"/>
            <a:ext cx="3049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solidFill>
                  <a:srgbClr val="FF0000"/>
                </a:solidFill>
              </a:rPr>
              <a:t>Pytorch</a:t>
            </a:r>
            <a:r>
              <a:rPr lang="en-US" altLang="zh-CN" sz="1400" dirty="0">
                <a:solidFill>
                  <a:srgbClr val="FF0000"/>
                </a:solidFill>
              </a:rPr>
              <a:t> 1.0</a:t>
            </a:r>
            <a:r>
              <a:rPr lang="zh-CN" altLang="en-US" sz="1400" dirty="0">
                <a:solidFill>
                  <a:srgbClr val="FF0000"/>
                </a:solidFill>
              </a:rPr>
              <a:t>：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zh-CN" altLang="en-US" sz="1400" dirty="0">
                <a:solidFill>
                  <a:srgbClr val="FF0000"/>
                </a:solidFill>
              </a:rPr>
              <a:t>将</a:t>
            </a:r>
            <a:r>
              <a:rPr lang="en-US" altLang="zh-CN" sz="1400" dirty="0">
                <a:solidFill>
                  <a:srgbClr val="FF0000"/>
                </a:solidFill>
              </a:rPr>
              <a:t>caffe2</a:t>
            </a:r>
            <a:r>
              <a:rPr lang="zh-CN" altLang="en-US" sz="1400" dirty="0">
                <a:solidFill>
                  <a:srgbClr val="FF0000"/>
                </a:solidFill>
              </a:rPr>
              <a:t>与</a:t>
            </a:r>
            <a:r>
              <a:rPr lang="en-US" altLang="zh-CN" sz="1400" dirty="0" err="1">
                <a:solidFill>
                  <a:srgbClr val="FF0000"/>
                </a:solidFill>
              </a:rPr>
              <a:t>Pytorch</a:t>
            </a:r>
            <a:r>
              <a:rPr lang="zh-CN" altLang="en-US" sz="1400" dirty="0">
                <a:solidFill>
                  <a:srgbClr val="FF0000"/>
                </a:solidFill>
              </a:rPr>
              <a:t>合并</a:t>
            </a:r>
          </a:p>
        </p:txBody>
      </p:sp>
    </p:spTree>
    <p:extLst>
      <p:ext uri="{BB962C8B-B14F-4D97-AF65-F5344CB8AC3E}">
        <p14:creationId xmlns:p14="http://schemas.microsoft.com/office/powerpoint/2010/main" val="4163412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94B3955-87DC-40D5-83D9-41D6B0CE2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065" y="4019803"/>
            <a:ext cx="11147998" cy="534861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400" dirty="0"/>
              <a:t>Torch </a:t>
            </a:r>
            <a:r>
              <a:rPr lang="zh-CN" altLang="en-US" sz="1400" dirty="0"/>
              <a:t>很好用</a:t>
            </a:r>
            <a:r>
              <a:rPr lang="en-US" altLang="zh-CN" sz="1400" dirty="0"/>
              <a:t>, </a:t>
            </a:r>
            <a:r>
              <a:rPr lang="zh-CN" altLang="en-US" sz="1400" dirty="0"/>
              <a:t>但是编程语言为</a:t>
            </a:r>
            <a:r>
              <a:rPr lang="en-US" altLang="zh-CN" sz="1400" dirty="0"/>
              <a:t>Lua</a:t>
            </a:r>
            <a:r>
              <a:rPr lang="zh-CN" altLang="en-US" sz="1400" dirty="0"/>
              <a:t>，但是 </a:t>
            </a:r>
            <a:r>
              <a:rPr lang="en-US" altLang="zh-CN" sz="1400" dirty="0"/>
              <a:t>Lua </a:t>
            </a:r>
            <a:r>
              <a:rPr lang="zh-CN" altLang="en-US" sz="1400" dirty="0"/>
              <a:t>又不是特别流行</a:t>
            </a:r>
            <a:r>
              <a:rPr lang="en-US" altLang="zh-CN" sz="1400" dirty="0"/>
              <a:t>, </a:t>
            </a:r>
            <a:r>
              <a:rPr lang="zh-CN" altLang="en-US" sz="1400" dirty="0"/>
              <a:t>所有开发团队将 </a:t>
            </a:r>
            <a:r>
              <a:rPr lang="en-US" altLang="zh-CN" sz="1400" dirty="0"/>
              <a:t>Lua </a:t>
            </a:r>
            <a:r>
              <a:rPr lang="zh-CN" altLang="en-US" sz="1400" dirty="0"/>
              <a:t>的 </a:t>
            </a:r>
            <a:r>
              <a:rPr lang="en-US" altLang="zh-CN" sz="1400" dirty="0"/>
              <a:t>Torch </a:t>
            </a:r>
            <a:r>
              <a:rPr lang="zh-CN" altLang="en-US" sz="1400" dirty="0"/>
              <a:t>移植到了更流行的语言 </a:t>
            </a:r>
            <a:r>
              <a:rPr lang="en-US" altLang="zh-CN" sz="1400" dirty="0"/>
              <a:t>Python </a:t>
            </a:r>
            <a:r>
              <a:rPr lang="zh-CN" altLang="en-US" sz="1400" dirty="0"/>
              <a:t>上。</a:t>
            </a:r>
            <a:endParaRPr lang="en-US" altLang="zh-CN" sz="14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B373D20-5362-480C-ADE4-DEE53DB61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99" y="359153"/>
            <a:ext cx="3637798" cy="585410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Why </a:t>
            </a:r>
            <a:r>
              <a:rPr lang="en-US" altLang="zh-CN" sz="2000" dirty="0" err="1"/>
              <a:t>Pytorch</a:t>
            </a:r>
            <a:r>
              <a:rPr lang="zh-CN" altLang="en-US" sz="2000" dirty="0"/>
              <a:t>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33980CB-A8B6-4E61-80DC-C84098C9446A}"/>
              </a:ext>
            </a:extLst>
          </p:cNvPr>
          <p:cNvSpPr/>
          <p:nvPr/>
        </p:nvSpPr>
        <p:spPr>
          <a:xfrm>
            <a:off x="4672739" y="1841986"/>
            <a:ext cx="28659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 err="1">
                <a:latin typeface="+mn-ea"/>
              </a:rPr>
              <a:t>PyTorch</a:t>
            </a:r>
            <a:r>
              <a:rPr lang="en-US" altLang="zh-CN" sz="1600" b="1" dirty="0">
                <a:latin typeface="+mn-ea"/>
              </a:rPr>
              <a:t> = Python + Torch</a:t>
            </a:r>
          </a:p>
        </p:txBody>
      </p:sp>
      <p:pic>
        <p:nvPicPr>
          <p:cNvPr id="1026" name="Picture 2" descr="Why Pytorch?">
            <a:extLst>
              <a:ext uri="{FF2B5EF4-FFF2-40B4-BE49-F238E27FC236}">
                <a16:creationId xmlns:a16="http://schemas.microsoft.com/office/drawing/2014/main" id="{92012D33-9244-4C91-B406-A8547D86B1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709"/>
          <a:stretch/>
        </p:blipFill>
        <p:spPr bwMode="auto">
          <a:xfrm>
            <a:off x="970484" y="4720984"/>
            <a:ext cx="4898159" cy="143841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8880EED-FC4D-49EC-A555-B062F1EE8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405" y="2531680"/>
            <a:ext cx="1163412" cy="107005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FD14E52-D6AE-4732-A4A1-AB467FDFD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810" y="2515460"/>
            <a:ext cx="856568" cy="107335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7E4597D-26C6-4D4F-A38D-CA1329E6E8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4464" y="2583312"/>
            <a:ext cx="1228725" cy="966788"/>
          </a:xfrm>
          <a:prstGeom prst="rect">
            <a:avLst/>
          </a:prstGeom>
        </p:spPr>
      </p:pic>
      <p:pic>
        <p:nvPicPr>
          <p:cNvPr id="9" name="Picture 2" descr="Why Pytorch?">
            <a:extLst>
              <a:ext uri="{FF2B5EF4-FFF2-40B4-BE49-F238E27FC236}">
                <a16:creationId xmlns:a16="http://schemas.microsoft.com/office/drawing/2014/main" id="{4CF2AA22-C0C3-420D-B5BD-78FC33BA44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97"/>
          <a:stretch/>
        </p:blipFill>
        <p:spPr bwMode="auto">
          <a:xfrm>
            <a:off x="6353027" y="4720985"/>
            <a:ext cx="4898159" cy="143841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432F625-C6AA-4133-B6D9-EA1E77075CEA}"/>
              </a:ext>
            </a:extLst>
          </p:cNvPr>
          <p:cNvSpPr/>
          <p:nvPr/>
        </p:nvSpPr>
        <p:spPr>
          <a:xfrm>
            <a:off x="1134656" y="4891553"/>
            <a:ext cx="1408092" cy="5486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内容占位符 1">
            <a:extLst>
              <a:ext uri="{FF2B5EF4-FFF2-40B4-BE49-F238E27FC236}">
                <a16:creationId xmlns:a16="http://schemas.microsoft.com/office/drawing/2014/main" id="{D9E3F610-56DC-4D06-B228-4AB0A594B3D0}"/>
              </a:ext>
            </a:extLst>
          </p:cNvPr>
          <p:cNvSpPr txBox="1">
            <a:spLocks/>
          </p:cNvSpPr>
          <p:nvPr/>
        </p:nvSpPr>
        <p:spPr>
          <a:xfrm>
            <a:off x="486099" y="1429376"/>
            <a:ext cx="10658350" cy="4819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p"/>
            </a:pPr>
            <a:r>
              <a:rPr lang="zh-CN" altLang="en-US" sz="1600" dirty="0"/>
              <a:t>编程语言简单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574341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0770B079-2E53-4B10-8B89-B643EF8E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" y="1874469"/>
            <a:ext cx="11151053" cy="48191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400" dirty="0" err="1"/>
              <a:t>NumPy</a:t>
            </a:r>
            <a:r>
              <a:rPr lang="zh-CN" altLang="en-US" sz="1400" dirty="0"/>
              <a:t>（</a:t>
            </a:r>
            <a:r>
              <a:rPr lang="en-US" altLang="zh-CN" sz="1400" dirty="0"/>
              <a:t>Numerical Python</a:t>
            </a:r>
            <a:r>
              <a:rPr lang="zh-CN" altLang="en-US" sz="1400" dirty="0"/>
              <a:t>的缩写）是一个开源的</a:t>
            </a:r>
            <a:r>
              <a:rPr lang="en-US" altLang="zh-CN" sz="1400" dirty="0"/>
              <a:t>Python</a:t>
            </a:r>
            <a:r>
              <a:rPr lang="zh-CN" altLang="en-US" sz="1400" dirty="0"/>
              <a:t>科学计算库。使用</a:t>
            </a:r>
            <a:r>
              <a:rPr lang="en-US" altLang="zh-CN" sz="1400" dirty="0" err="1"/>
              <a:t>NumPy</a:t>
            </a:r>
            <a:r>
              <a:rPr lang="zh-CN" altLang="en-US" sz="1400" dirty="0"/>
              <a:t>，就可以很自然地使用数组和矩阵。</a:t>
            </a:r>
            <a:endParaRPr lang="en-US" altLang="zh-CN" sz="1400" dirty="0"/>
          </a:p>
          <a:p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NumPy</a:t>
            </a:r>
            <a:r>
              <a:rPr lang="zh-CN" altLang="en-US" sz="1400" dirty="0"/>
              <a:t>包含很多实用的数学函数，涵盖线性代数运算、傅里叶变换和随机数生成等功能。</a:t>
            </a: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347B740A-BC71-4264-9EEC-752C78D121DC}"/>
              </a:ext>
            </a:extLst>
          </p:cNvPr>
          <p:cNvSpPr/>
          <p:nvPr/>
        </p:nvSpPr>
        <p:spPr>
          <a:xfrm>
            <a:off x="524593" y="3010836"/>
            <a:ext cx="3093548" cy="30495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8396798D-AC1A-4D11-9B4E-C08E6AC226DE}"/>
              </a:ext>
            </a:extLst>
          </p:cNvPr>
          <p:cNvSpPr/>
          <p:nvPr/>
        </p:nvSpPr>
        <p:spPr>
          <a:xfrm>
            <a:off x="4143753" y="2993977"/>
            <a:ext cx="3093547" cy="31131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44C7E412-2C17-491B-9302-A6D3F9F4AD71}"/>
              </a:ext>
            </a:extLst>
          </p:cNvPr>
          <p:cNvSpPr/>
          <p:nvPr/>
        </p:nvSpPr>
        <p:spPr>
          <a:xfrm>
            <a:off x="8184122" y="3010836"/>
            <a:ext cx="412115" cy="412115"/>
          </a:xfrm>
          <a:custGeom>
            <a:avLst/>
            <a:gdLst/>
            <a:ahLst/>
            <a:cxnLst/>
            <a:rect l="l" t="t" r="r" b="b"/>
            <a:pathLst>
              <a:path w="412115" h="412115">
                <a:moveTo>
                  <a:pt x="205923" y="411847"/>
                </a:moveTo>
                <a:lnTo>
                  <a:pt x="158707" y="406408"/>
                </a:lnTo>
                <a:lnTo>
                  <a:pt x="115363" y="390916"/>
                </a:lnTo>
                <a:lnTo>
                  <a:pt x="77128" y="366608"/>
                </a:lnTo>
                <a:lnTo>
                  <a:pt x="45239" y="334718"/>
                </a:lnTo>
                <a:lnTo>
                  <a:pt x="20930" y="296483"/>
                </a:lnTo>
                <a:lnTo>
                  <a:pt x="5438" y="253140"/>
                </a:lnTo>
                <a:lnTo>
                  <a:pt x="0" y="205923"/>
                </a:lnTo>
                <a:lnTo>
                  <a:pt x="5438" y="158707"/>
                </a:lnTo>
                <a:lnTo>
                  <a:pt x="20930" y="115363"/>
                </a:lnTo>
                <a:lnTo>
                  <a:pt x="45239" y="77128"/>
                </a:lnTo>
                <a:lnTo>
                  <a:pt x="77128" y="45239"/>
                </a:lnTo>
                <a:lnTo>
                  <a:pt x="115363" y="20930"/>
                </a:lnTo>
                <a:lnTo>
                  <a:pt x="158707" y="5438"/>
                </a:lnTo>
                <a:lnTo>
                  <a:pt x="205923" y="0"/>
                </a:lnTo>
                <a:lnTo>
                  <a:pt x="246284" y="3993"/>
                </a:lnTo>
                <a:lnTo>
                  <a:pt x="284727" y="15675"/>
                </a:lnTo>
                <a:lnTo>
                  <a:pt x="320170" y="34597"/>
                </a:lnTo>
                <a:lnTo>
                  <a:pt x="351533" y="60313"/>
                </a:lnTo>
                <a:lnTo>
                  <a:pt x="377249" y="91677"/>
                </a:lnTo>
                <a:lnTo>
                  <a:pt x="396172" y="127120"/>
                </a:lnTo>
                <a:lnTo>
                  <a:pt x="407853" y="165562"/>
                </a:lnTo>
                <a:lnTo>
                  <a:pt x="411847" y="205923"/>
                </a:lnTo>
                <a:lnTo>
                  <a:pt x="406408" y="253140"/>
                </a:lnTo>
                <a:lnTo>
                  <a:pt x="390916" y="296483"/>
                </a:lnTo>
                <a:lnTo>
                  <a:pt x="366608" y="334718"/>
                </a:lnTo>
                <a:lnTo>
                  <a:pt x="334718" y="366608"/>
                </a:lnTo>
                <a:lnTo>
                  <a:pt x="296483" y="390916"/>
                </a:lnTo>
                <a:lnTo>
                  <a:pt x="253140" y="406408"/>
                </a:lnTo>
                <a:lnTo>
                  <a:pt x="205923" y="411847"/>
                </a:lnTo>
                <a:close/>
              </a:path>
            </a:pathLst>
          </a:custGeom>
          <a:solidFill>
            <a:srgbClr val="CEE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A7913E61-D98F-4CCF-97A7-1A5E0BCDA4E0}"/>
              </a:ext>
            </a:extLst>
          </p:cNvPr>
          <p:cNvSpPr/>
          <p:nvPr/>
        </p:nvSpPr>
        <p:spPr>
          <a:xfrm>
            <a:off x="8184122" y="3001108"/>
            <a:ext cx="412115" cy="412115"/>
          </a:xfrm>
          <a:custGeom>
            <a:avLst/>
            <a:gdLst/>
            <a:ahLst/>
            <a:cxnLst/>
            <a:rect l="l" t="t" r="r" b="b"/>
            <a:pathLst>
              <a:path w="412115" h="412115">
                <a:moveTo>
                  <a:pt x="0" y="205923"/>
                </a:moveTo>
                <a:lnTo>
                  <a:pt x="5438" y="158707"/>
                </a:lnTo>
                <a:lnTo>
                  <a:pt x="20930" y="115363"/>
                </a:lnTo>
                <a:lnTo>
                  <a:pt x="45239" y="77128"/>
                </a:lnTo>
                <a:lnTo>
                  <a:pt x="77128" y="45239"/>
                </a:lnTo>
                <a:lnTo>
                  <a:pt x="115363" y="20930"/>
                </a:lnTo>
                <a:lnTo>
                  <a:pt x="158707" y="5438"/>
                </a:lnTo>
                <a:lnTo>
                  <a:pt x="205923" y="0"/>
                </a:lnTo>
                <a:lnTo>
                  <a:pt x="246284" y="3993"/>
                </a:lnTo>
                <a:lnTo>
                  <a:pt x="284727" y="15675"/>
                </a:lnTo>
                <a:lnTo>
                  <a:pt x="320170" y="34597"/>
                </a:lnTo>
                <a:lnTo>
                  <a:pt x="351533" y="60313"/>
                </a:lnTo>
                <a:lnTo>
                  <a:pt x="377249" y="91677"/>
                </a:lnTo>
                <a:lnTo>
                  <a:pt x="396172" y="127120"/>
                </a:lnTo>
                <a:lnTo>
                  <a:pt x="407853" y="165562"/>
                </a:lnTo>
                <a:lnTo>
                  <a:pt x="411847" y="205923"/>
                </a:lnTo>
                <a:lnTo>
                  <a:pt x="406408" y="253140"/>
                </a:lnTo>
                <a:lnTo>
                  <a:pt x="390916" y="296483"/>
                </a:lnTo>
                <a:lnTo>
                  <a:pt x="366608" y="334718"/>
                </a:lnTo>
                <a:lnTo>
                  <a:pt x="334718" y="366608"/>
                </a:lnTo>
                <a:lnTo>
                  <a:pt x="296483" y="390916"/>
                </a:lnTo>
                <a:lnTo>
                  <a:pt x="253140" y="406408"/>
                </a:lnTo>
                <a:lnTo>
                  <a:pt x="205923" y="411847"/>
                </a:lnTo>
                <a:lnTo>
                  <a:pt x="158707" y="406408"/>
                </a:lnTo>
                <a:lnTo>
                  <a:pt x="115363" y="390916"/>
                </a:lnTo>
                <a:lnTo>
                  <a:pt x="77128" y="366608"/>
                </a:lnTo>
                <a:lnTo>
                  <a:pt x="45239" y="334718"/>
                </a:lnTo>
                <a:lnTo>
                  <a:pt x="20930" y="296483"/>
                </a:lnTo>
                <a:lnTo>
                  <a:pt x="5438" y="253140"/>
                </a:lnTo>
                <a:lnTo>
                  <a:pt x="0" y="205923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E12DCED9-029A-445F-9654-B30FF12D697C}"/>
              </a:ext>
            </a:extLst>
          </p:cNvPr>
          <p:cNvSpPr/>
          <p:nvPr/>
        </p:nvSpPr>
        <p:spPr>
          <a:xfrm>
            <a:off x="8805646" y="3010836"/>
            <a:ext cx="412115" cy="412115"/>
          </a:xfrm>
          <a:custGeom>
            <a:avLst/>
            <a:gdLst/>
            <a:ahLst/>
            <a:cxnLst/>
            <a:rect l="l" t="t" r="r" b="b"/>
            <a:pathLst>
              <a:path w="412115" h="412115">
                <a:moveTo>
                  <a:pt x="205923" y="411847"/>
                </a:moveTo>
                <a:lnTo>
                  <a:pt x="158707" y="406408"/>
                </a:lnTo>
                <a:lnTo>
                  <a:pt x="115363" y="390916"/>
                </a:lnTo>
                <a:lnTo>
                  <a:pt x="77128" y="366608"/>
                </a:lnTo>
                <a:lnTo>
                  <a:pt x="45239" y="334718"/>
                </a:lnTo>
                <a:lnTo>
                  <a:pt x="20930" y="296483"/>
                </a:lnTo>
                <a:lnTo>
                  <a:pt x="5438" y="253140"/>
                </a:lnTo>
                <a:lnTo>
                  <a:pt x="0" y="205923"/>
                </a:lnTo>
                <a:lnTo>
                  <a:pt x="5438" y="158707"/>
                </a:lnTo>
                <a:lnTo>
                  <a:pt x="20930" y="115363"/>
                </a:lnTo>
                <a:lnTo>
                  <a:pt x="45239" y="77128"/>
                </a:lnTo>
                <a:lnTo>
                  <a:pt x="77128" y="45239"/>
                </a:lnTo>
                <a:lnTo>
                  <a:pt x="115363" y="20930"/>
                </a:lnTo>
                <a:lnTo>
                  <a:pt x="158707" y="5438"/>
                </a:lnTo>
                <a:lnTo>
                  <a:pt x="205923" y="0"/>
                </a:lnTo>
                <a:lnTo>
                  <a:pt x="246284" y="3993"/>
                </a:lnTo>
                <a:lnTo>
                  <a:pt x="284727" y="15675"/>
                </a:lnTo>
                <a:lnTo>
                  <a:pt x="320170" y="34597"/>
                </a:lnTo>
                <a:lnTo>
                  <a:pt x="351533" y="60313"/>
                </a:lnTo>
                <a:lnTo>
                  <a:pt x="377249" y="91677"/>
                </a:lnTo>
                <a:lnTo>
                  <a:pt x="396172" y="127120"/>
                </a:lnTo>
                <a:lnTo>
                  <a:pt x="407853" y="165562"/>
                </a:lnTo>
                <a:lnTo>
                  <a:pt x="411847" y="205923"/>
                </a:lnTo>
                <a:lnTo>
                  <a:pt x="406408" y="253140"/>
                </a:lnTo>
                <a:lnTo>
                  <a:pt x="390916" y="296483"/>
                </a:lnTo>
                <a:lnTo>
                  <a:pt x="366608" y="334718"/>
                </a:lnTo>
                <a:lnTo>
                  <a:pt x="334718" y="366608"/>
                </a:lnTo>
                <a:lnTo>
                  <a:pt x="296483" y="390916"/>
                </a:lnTo>
                <a:lnTo>
                  <a:pt x="253140" y="406408"/>
                </a:lnTo>
                <a:lnTo>
                  <a:pt x="205923" y="411847"/>
                </a:lnTo>
                <a:close/>
              </a:path>
            </a:pathLst>
          </a:custGeom>
          <a:solidFill>
            <a:srgbClr val="CEE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D46F9ED3-DEAA-417A-91AF-264071C37682}"/>
              </a:ext>
            </a:extLst>
          </p:cNvPr>
          <p:cNvSpPr/>
          <p:nvPr/>
        </p:nvSpPr>
        <p:spPr>
          <a:xfrm>
            <a:off x="8805646" y="3001108"/>
            <a:ext cx="412115" cy="412115"/>
          </a:xfrm>
          <a:custGeom>
            <a:avLst/>
            <a:gdLst/>
            <a:ahLst/>
            <a:cxnLst/>
            <a:rect l="l" t="t" r="r" b="b"/>
            <a:pathLst>
              <a:path w="412115" h="412115">
                <a:moveTo>
                  <a:pt x="0" y="205923"/>
                </a:moveTo>
                <a:lnTo>
                  <a:pt x="5438" y="158707"/>
                </a:lnTo>
                <a:lnTo>
                  <a:pt x="20930" y="115363"/>
                </a:lnTo>
                <a:lnTo>
                  <a:pt x="45239" y="77128"/>
                </a:lnTo>
                <a:lnTo>
                  <a:pt x="77128" y="45239"/>
                </a:lnTo>
                <a:lnTo>
                  <a:pt x="115363" y="20930"/>
                </a:lnTo>
                <a:lnTo>
                  <a:pt x="158707" y="5438"/>
                </a:lnTo>
                <a:lnTo>
                  <a:pt x="205923" y="0"/>
                </a:lnTo>
                <a:lnTo>
                  <a:pt x="246284" y="3993"/>
                </a:lnTo>
                <a:lnTo>
                  <a:pt x="284727" y="15675"/>
                </a:lnTo>
                <a:lnTo>
                  <a:pt x="320170" y="34597"/>
                </a:lnTo>
                <a:lnTo>
                  <a:pt x="351533" y="60313"/>
                </a:lnTo>
                <a:lnTo>
                  <a:pt x="377249" y="91677"/>
                </a:lnTo>
                <a:lnTo>
                  <a:pt x="396172" y="127120"/>
                </a:lnTo>
                <a:lnTo>
                  <a:pt x="407853" y="165562"/>
                </a:lnTo>
                <a:lnTo>
                  <a:pt x="411847" y="205923"/>
                </a:lnTo>
                <a:lnTo>
                  <a:pt x="406408" y="253140"/>
                </a:lnTo>
                <a:lnTo>
                  <a:pt x="390916" y="296483"/>
                </a:lnTo>
                <a:lnTo>
                  <a:pt x="366608" y="334718"/>
                </a:lnTo>
                <a:lnTo>
                  <a:pt x="334718" y="366608"/>
                </a:lnTo>
                <a:lnTo>
                  <a:pt x="296483" y="390916"/>
                </a:lnTo>
                <a:lnTo>
                  <a:pt x="253140" y="406408"/>
                </a:lnTo>
                <a:lnTo>
                  <a:pt x="205923" y="411847"/>
                </a:lnTo>
                <a:lnTo>
                  <a:pt x="158707" y="406408"/>
                </a:lnTo>
                <a:lnTo>
                  <a:pt x="115363" y="390916"/>
                </a:lnTo>
                <a:lnTo>
                  <a:pt x="77128" y="366608"/>
                </a:lnTo>
                <a:lnTo>
                  <a:pt x="45239" y="334718"/>
                </a:lnTo>
                <a:lnTo>
                  <a:pt x="20930" y="296483"/>
                </a:lnTo>
                <a:lnTo>
                  <a:pt x="5438" y="253140"/>
                </a:lnTo>
                <a:lnTo>
                  <a:pt x="0" y="205923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449911EB-2459-489F-8533-672C739B07EB}"/>
              </a:ext>
            </a:extLst>
          </p:cNvPr>
          <p:cNvSpPr/>
          <p:nvPr/>
        </p:nvSpPr>
        <p:spPr>
          <a:xfrm>
            <a:off x="9427169" y="3010836"/>
            <a:ext cx="412115" cy="412115"/>
          </a:xfrm>
          <a:custGeom>
            <a:avLst/>
            <a:gdLst/>
            <a:ahLst/>
            <a:cxnLst/>
            <a:rect l="l" t="t" r="r" b="b"/>
            <a:pathLst>
              <a:path w="412114" h="412115">
                <a:moveTo>
                  <a:pt x="205923" y="411847"/>
                </a:moveTo>
                <a:lnTo>
                  <a:pt x="158707" y="406408"/>
                </a:lnTo>
                <a:lnTo>
                  <a:pt x="115363" y="390916"/>
                </a:lnTo>
                <a:lnTo>
                  <a:pt x="77128" y="366608"/>
                </a:lnTo>
                <a:lnTo>
                  <a:pt x="45239" y="334718"/>
                </a:lnTo>
                <a:lnTo>
                  <a:pt x="20930" y="296483"/>
                </a:lnTo>
                <a:lnTo>
                  <a:pt x="5438" y="253140"/>
                </a:lnTo>
                <a:lnTo>
                  <a:pt x="0" y="205923"/>
                </a:lnTo>
                <a:lnTo>
                  <a:pt x="5438" y="158707"/>
                </a:lnTo>
                <a:lnTo>
                  <a:pt x="20930" y="115363"/>
                </a:lnTo>
                <a:lnTo>
                  <a:pt x="45239" y="77128"/>
                </a:lnTo>
                <a:lnTo>
                  <a:pt x="77128" y="45239"/>
                </a:lnTo>
                <a:lnTo>
                  <a:pt x="115363" y="20930"/>
                </a:lnTo>
                <a:lnTo>
                  <a:pt x="158707" y="5438"/>
                </a:lnTo>
                <a:lnTo>
                  <a:pt x="205923" y="0"/>
                </a:lnTo>
                <a:lnTo>
                  <a:pt x="246284" y="3993"/>
                </a:lnTo>
                <a:lnTo>
                  <a:pt x="284727" y="15675"/>
                </a:lnTo>
                <a:lnTo>
                  <a:pt x="320170" y="34597"/>
                </a:lnTo>
                <a:lnTo>
                  <a:pt x="351533" y="60313"/>
                </a:lnTo>
                <a:lnTo>
                  <a:pt x="377249" y="91677"/>
                </a:lnTo>
                <a:lnTo>
                  <a:pt x="396172" y="127120"/>
                </a:lnTo>
                <a:lnTo>
                  <a:pt x="407854" y="165562"/>
                </a:lnTo>
                <a:lnTo>
                  <a:pt x="411847" y="205923"/>
                </a:lnTo>
                <a:lnTo>
                  <a:pt x="406408" y="253140"/>
                </a:lnTo>
                <a:lnTo>
                  <a:pt x="390917" y="296483"/>
                </a:lnTo>
                <a:lnTo>
                  <a:pt x="366608" y="334718"/>
                </a:lnTo>
                <a:lnTo>
                  <a:pt x="334718" y="366608"/>
                </a:lnTo>
                <a:lnTo>
                  <a:pt x="296483" y="390916"/>
                </a:lnTo>
                <a:lnTo>
                  <a:pt x="253140" y="406408"/>
                </a:lnTo>
                <a:lnTo>
                  <a:pt x="205923" y="411847"/>
                </a:lnTo>
                <a:close/>
              </a:path>
            </a:pathLst>
          </a:custGeom>
          <a:solidFill>
            <a:srgbClr val="CEE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9">
            <a:extLst>
              <a:ext uri="{FF2B5EF4-FFF2-40B4-BE49-F238E27FC236}">
                <a16:creationId xmlns:a16="http://schemas.microsoft.com/office/drawing/2014/main" id="{3EB086C1-E0ED-4659-9790-1DA66E14A7ED}"/>
              </a:ext>
            </a:extLst>
          </p:cNvPr>
          <p:cNvSpPr/>
          <p:nvPr/>
        </p:nvSpPr>
        <p:spPr>
          <a:xfrm>
            <a:off x="9446625" y="3001108"/>
            <a:ext cx="412115" cy="412115"/>
          </a:xfrm>
          <a:custGeom>
            <a:avLst/>
            <a:gdLst/>
            <a:ahLst/>
            <a:cxnLst/>
            <a:rect l="l" t="t" r="r" b="b"/>
            <a:pathLst>
              <a:path w="412114" h="412115">
                <a:moveTo>
                  <a:pt x="0" y="205923"/>
                </a:moveTo>
                <a:lnTo>
                  <a:pt x="5438" y="158707"/>
                </a:lnTo>
                <a:lnTo>
                  <a:pt x="20930" y="115363"/>
                </a:lnTo>
                <a:lnTo>
                  <a:pt x="45239" y="77128"/>
                </a:lnTo>
                <a:lnTo>
                  <a:pt x="77128" y="45239"/>
                </a:lnTo>
                <a:lnTo>
                  <a:pt x="115363" y="20930"/>
                </a:lnTo>
                <a:lnTo>
                  <a:pt x="158707" y="5438"/>
                </a:lnTo>
                <a:lnTo>
                  <a:pt x="205923" y="0"/>
                </a:lnTo>
                <a:lnTo>
                  <a:pt x="246284" y="3993"/>
                </a:lnTo>
                <a:lnTo>
                  <a:pt x="284727" y="15675"/>
                </a:lnTo>
                <a:lnTo>
                  <a:pt x="320170" y="34597"/>
                </a:lnTo>
                <a:lnTo>
                  <a:pt x="351533" y="60313"/>
                </a:lnTo>
                <a:lnTo>
                  <a:pt x="377249" y="91677"/>
                </a:lnTo>
                <a:lnTo>
                  <a:pt x="396172" y="127120"/>
                </a:lnTo>
                <a:lnTo>
                  <a:pt x="407854" y="165562"/>
                </a:lnTo>
                <a:lnTo>
                  <a:pt x="411847" y="205923"/>
                </a:lnTo>
                <a:lnTo>
                  <a:pt x="406408" y="253140"/>
                </a:lnTo>
                <a:lnTo>
                  <a:pt x="390917" y="296483"/>
                </a:lnTo>
                <a:lnTo>
                  <a:pt x="366608" y="334718"/>
                </a:lnTo>
                <a:lnTo>
                  <a:pt x="334718" y="366608"/>
                </a:lnTo>
                <a:lnTo>
                  <a:pt x="296483" y="390916"/>
                </a:lnTo>
                <a:lnTo>
                  <a:pt x="253140" y="406408"/>
                </a:lnTo>
                <a:lnTo>
                  <a:pt x="205923" y="411847"/>
                </a:lnTo>
                <a:lnTo>
                  <a:pt x="158707" y="406408"/>
                </a:lnTo>
                <a:lnTo>
                  <a:pt x="115363" y="390916"/>
                </a:lnTo>
                <a:lnTo>
                  <a:pt x="77128" y="366608"/>
                </a:lnTo>
                <a:lnTo>
                  <a:pt x="45239" y="334718"/>
                </a:lnTo>
                <a:lnTo>
                  <a:pt x="20930" y="296483"/>
                </a:lnTo>
                <a:lnTo>
                  <a:pt x="5438" y="253140"/>
                </a:lnTo>
                <a:lnTo>
                  <a:pt x="0" y="205923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0">
            <a:extLst>
              <a:ext uri="{FF2B5EF4-FFF2-40B4-BE49-F238E27FC236}">
                <a16:creationId xmlns:a16="http://schemas.microsoft.com/office/drawing/2014/main" id="{562DE419-8E77-42AC-B719-53A1D5B83554}"/>
              </a:ext>
            </a:extLst>
          </p:cNvPr>
          <p:cNvSpPr txBox="1"/>
          <p:nvPr/>
        </p:nvSpPr>
        <p:spPr>
          <a:xfrm>
            <a:off x="8307820" y="2994495"/>
            <a:ext cx="1421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3730" algn="l"/>
                <a:tab pos="1255395" algn="l"/>
              </a:tabLst>
            </a:pPr>
            <a:r>
              <a:rPr sz="2400" dirty="0">
                <a:latin typeface="Arial"/>
                <a:cs typeface="Arial"/>
              </a:rPr>
              <a:t>x	y	z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11">
            <a:extLst>
              <a:ext uri="{FF2B5EF4-FFF2-40B4-BE49-F238E27FC236}">
                <a16:creationId xmlns:a16="http://schemas.microsoft.com/office/drawing/2014/main" id="{816C678D-66D2-462B-A3C2-F34BCE2E8069}"/>
              </a:ext>
            </a:extLst>
          </p:cNvPr>
          <p:cNvSpPr txBox="1"/>
          <p:nvPr/>
        </p:nvSpPr>
        <p:spPr>
          <a:xfrm>
            <a:off x="8547921" y="3531738"/>
            <a:ext cx="323215" cy="323215"/>
          </a:xfrm>
          <a:prstGeom prst="rect">
            <a:avLst/>
          </a:prstGeom>
          <a:solidFill>
            <a:srgbClr val="D9EAD3"/>
          </a:solidFill>
          <a:ln w="9524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ts val="2540"/>
              </a:lnSpc>
            </a:pPr>
            <a:r>
              <a:rPr sz="2400" dirty="0">
                <a:latin typeface="Arial"/>
                <a:cs typeface="Arial"/>
              </a:rPr>
              <a:t>*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B5836D36-3886-432A-AC32-F730A0C4557F}"/>
              </a:ext>
            </a:extLst>
          </p:cNvPr>
          <p:cNvSpPr/>
          <p:nvPr/>
        </p:nvSpPr>
        <p:spPr>
          <a:xfrm>
            <a:off x="8387195" y="3406485"/>
            <a:ext cx="305462" cy="1252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3">
            <a:extLst>
              <a:ext uri="{FF2B5EF4-FFF2-40B4-BE49-F238E27FC236}">
                <a16:creationId xmlns:a16="http://schemas.microsoft.com/office/drawing/2014/main" id="{9F668C54-F5BC-4877-BF48-1903DEDF7190}"/>
              </a:ext>
            </a:extLst>
          </p:cNvPr>
          <p:cNvSpPr/>
          <p:nvPr/>
        </p:nvSpPr>
        <p:spPr>
          <a:xfrm>
            <a:off x="8725843" y="3406485"/>
            <a:ext cx="301924" cy="12518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4">
            <a:extLst>
              <a:ext uri="{FF2B5EF4-FFF2-40B4-BE49-F238E27FC236}">
                <a16:creationId xmlns:a16="http://schemas.microsoft.com/office/drawing/2014/main" id="{F330D513-7AC9-4C61-801E-926557CED3AB}"/>
              </a:ext>
            </a:extLst>
          </p:cNvPr>
          <p:cNvSpPr/>
          <p:nvPr/>
        </p:nvSpPr>
        <p:spPr>
          <a:xfrm>
            <a:off x="8503287" y="4023271"/>
            <a:ext cx="412115" cy="412115"/>
          </a:xfrm>
          <a:custGeom>
            <a:avLst/>
            <a:gdLst/>
            <a:ahLst/>
            <a:cxnLst/>
            <a:rect l="l" t="t" r="r" b="b"/>
            <a:pathLst>
              <a:path w="412115" h="412114">
                <a:moveTo>
                  <a:pt x="205923" y="411847"/>
                </a:moveTo>
                <a:lnTo>
                  <a:pt x="158707" y="406408"/>
                </a:lnTo>
                <a:lnTo>
                  <a:pt x="115363" y="390916"/>
                </a:lnTo>
                <a:lnTo>
                  <a:pt x="77128" y="366608"/>
                </a:lnTo>
                <a:lnTo>
                  <a:pt x="45239" y="334718"/>
                </a:lnTo>
                <a:lnTo>
                  <a:pt x="20930" y="296483"/>
                </a:lnTo>
                <a:lnTo>
                  <a:pt x="5438" y="253139"/>
                </a:lnTo>
                <a:lnTo>
                  <a:pt x="0" y="205923"/>
                </a:lnTo>
                <a:lnTo>
                  <a:pt x="5438" y="158707"/>
                </a:lnTo>
                <a:lnTo>
                  <a:pt x="20930" y="115363"/>
                </a:lnTo>
                <a:lnTo>
                  <a:pt x="45239" y="77128"/>
                </a:lnTo>
                <a:lnTo>
                  <a:pt x="77128" y="45239"/>
                </a:lnTo>
                <a:lnTo>
                  <a:pt x="115363" y="20930"/>
                </a:lnTo>
                <a:lnTo>
                  <a:pt x="158707" y="5438"/>
                </a:lnTo>
                <a:lnTo>
                  <a:pt x="205923" y="0"/>
                </a:lnTo>
                <a:lnTo>
                  <a:pt x="246284" y="3993"/>
                </a:lnTo>
                <a:lnTo>
                  <a:pt x="284727" y="15675"/>
                </a:lnTo>
                <a:lnTo>
                  <a:pt x="320170" y="34597"/>
                </a:lnTo>
                <a:lnTo>
                  <a:pt x="351533" y="60313"/>
                </a:lnTo>
                <a:lnTo>
                  <a:pt x="377249" y="91677"/>
                </a:lnTo>
                <a:lnTo>
                  <a:pt x="396172" y="127120"/>
                </a:lnTo>
                <a:lnTo>
                  <a:pt x="407853" y="165562"/>
                </a:lnTo>
                <a:lnTo>
                  <a:pt x="411847" y="205923"/>
                </a:lnTo>
                <a:lnTo>
                  <a:pt x="406408" y="253139"/>
                </a:lnTo>
                <a:lnTo>
                  <a:pt x="390916" y="296483"/>
                </a:lnTo>
                <a:lnTo>
                  <a:pt x="366608" y="334718"/>
                </a:lnTo>
                <a:lnTo>
                  <a:pt x="334718" y="366608"/>
                </a:lnTo>
                <a:lnTo>
                  <a:pt x="296483" y="390916"/>
                </a:lnTo>
                <a:lnTo>
                  <a:pt x="253140" y="406408"/>
                </a:lnTo>
                <a:lnTo>
                  <a:pt x="205923" y="411847"/>
                </a:lnTo>
                <a:close/>
              </a:path>
            </a:pathLst>
          </a:custGeom>
          <a:solidFill>
            <a:srgbClr val="CEE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5">
            <a:extLst>
              <a:ext uri="{FF2B5EF4-FFF2-40B4-BE49-F238E27FC236}">
                <a16:creationId xmlns:a16="http://schemas.microsoft.com/office/drawing/2014/main" id="{568C10D0-2172-4D18-B853-97A71367F276}"/>
              </a:ext>
            </a:extLst>
          </p:cNvPr>
          <p:cNvSpPr/>
          <p:nvPr/>
        </p:nvSpPr>
        <p:spPr>
          <a:xfrm>
            <a:off x="8503287" y="4023271"/>
            <a:ext cx="412115" cy="412115"/>
          </a:xfrm>
          <a:custGeom>
            <a:avLst/>
            <a:gdLst/>
            <a:ahLst/>
            <a:cxnLst/>
            <a:rect l="l" t="t" r="r" b="b"/>
            <a:pathLst>
              <a:path w="412115" h="412114">
                <a:moveTo>
                  <a:pt x="0" y="205923"/>
                </a:moveTo>
                <a:lnTo>
                  <a:pt x="5438" y="158707"/>
                </a:lnTo>
                <a:lnTo>
                  <a:pt x="20930" y="115363"/>
                </a:lnTo>
                <a:lnTo>
                  <a:pt x="45239" y="77128"/>
                </a:lnTo>
                <a:lnTo>
                  <a:pt x="77128" y="45239"/>
                </a:lnTo>
                <a:lnTo>
                  <a:pt x="115363" y="20930"/>
                </a:lnTo>
                <a:lnTo>
                  <a:pt x="158707" y="5438"/>
                </a:lnTo>
                <a:lnTo>
                  <a:pt x="205923" y="0"/>
                </a:lnTo>
                <a:lnTo>
                  <a:pt x="246284" y="3993"/>
                </a:lnTo>
                <a:lnTo>
                  <a:pt x="284727" y="15675"/>
                </a:lnTo>
                <a:lnTo>
                  <a:pt x="320170" y="34597"/>
                </a:lnTo>
                <a:lnTo>
                  <a:pt x="351533" y="60313"/>
                </a:lnTo>
                <a:lnTo>
                  <a:pt x="377249" y="91677"/>
                </a:lnTo>
                <a:lnTo>
                  <a:pt x="396172" y="127120"/>
                </a:lnTo>
                <a:lnTo>
                  <a:pt x="407853" y="165562"/>
                </a:lnTo>
                <a:lnTo>
                  <a:pt x="411847" y="205923"/>
                </a:lnTo>
                <a:lnTo>
                  <a:pt x="406408" y="253139"/>
                </a:lnTo>
                <a:lnTo>
                  <a:pt x="390916" y="296483"/>
                </a:lnTo>
                <a:lnTo>
                  <a:pt x="366608" y="334718"/>
                </a:lnTo>
                <a:lnTo>
                  <a:pt x="334718" y="366608"/>
                </a:lnTo>
                <a:lnTo>
                  <a:pt x="296483" y="390916"/>
                </a:lnTo>
                <a:lnTo>
                  <a:pt x="253140" y="406408"/>
                </a:lnTo>
                <a:lnTo>
                  <a:pt x="205923" y="411847"/>
                </a:lnTo>
                <a:lnTo>
                  <a:pt x="158707" y="406408"/>
                </a:lnTo>
                <a:lnTo>
                  <a:pt x="115363" y="390916"/>
                </a:lnTo>
                <a:lnTo>
                  <a:pt x="77128" y="366608"/>
                </a:lnTo>
                <a:lnTo>
                  <a:pt x="45239" y="334718"/>
                </a:lnTo>
                <a:lnTo>
                  <a:pt x="20930" y="296483"/>
                </a:lnTo>
                <a:lnTo>
                  <a:pt x="5438" y="253139"/>
                </a:lnTo>
                <a:lnTo>
                  <a:pt x="0" y="205923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6">
            <a:extLst>
              <a:ext uri="{FF2B5EF4-FFF2-40B4-BE49-F238E27FC236}">
                <a16:creationId xmlns:a16="http://schemas.microsoft.com/office/drawing/2014/main" id="{2E0CF59D-BA87-40AB-B3E2-30C3C5146E62}"/>
              </a:ext>
            </a:extLst>
          </p:cNvPr>
          <p:cNvSpPr txBox="1"/>
          <p:nvPr/>
        </p:nvSpPr>
        <p:spPr>
          <a:xfrm>
            <a:off x="8611753" y="402332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17">
            <a:extLst>
              <a:ext uri="{FF2B5EF4-FFF2-40B4-BE49-F238E27FC236}">
                <a16:creationId xmlns:a16="http://schemas.microsoft.com/office/drawing/2014/main" id="{42581542-3DF0-44FD-85EA-D80C952F0DF0}"/>
              </a:ext>
            </a:extLst>
          </p:cNvPr>
          <p:cNvSpPr/>
          <p:nvPr/>
        </p:nvSpPr>
        <p:spPr>
          <a:xfrm>
            <a:off x="8668299" y="3854475"/>
            <a:ext cx="81981" cy="1504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8">
            <a:extLst>
              <a:ext uri="{FF2B5EF4-FFF2-40B4-BE49-F238E27FC236}">
                <a16:creationId xmlns:a16="http://schemas.microsoft.com/office/drawing/2014/main" id="{E0513129-D174-40F7-88C0-5E98279EA750}"/>
              </a:ext>
            </a:extLst>
          </p:cNvPr>
          <p:cNvSpPr txBox="1"/>
          <p:nvPr/>
        </p:nvSpPr>
        <p:spPr>
          <a:xfrm>
            <a:off x="9073313" y="4335255"/>
            <a:ext cx="323215" cy="323215"/>
          </a:xfrm>
          <a:prstGeom prst="rect">
            <a:avLst/>
          </a:prstGeom>
          <a:solidFill>
            <a:srgbClr val="D9EAD3"/>
          </a:solidFill>
          <a:ln w="9524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1755">
              <a:lnSpc>
                <a:spcPts val="2540"/>
              </a:lnSpc>
            </a:pPr>
            <a:r>
              <a:rPr sz="240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19">
            <a:extLst>
              <a:ext uri="{FF2B5EF4-FFF2-40B4-BE49-F238E27FC236}">
                <a16:creationId xmlns:a16="http://schemas.microsoft.com/office/drawing/2014/main" id="{08BC7D77-0244-4D5A-ABC2-25B57EB4B498}"/>
              </a:ext>
            </a:extLst>
          </p:cNvPr>
          <p:cNvSpPr/>
          <p:nvPr/>
        </p:nvSpPr>
        <p:spPr>
          <a:xfrm>
            <a:off x="8845295" y="4365280"/>
            <a:ext cx="213036" cy="12727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0">
            <a:extLst>
              <a:ext uri="{FF2B5EF4-FFF2-40B4-BE49-F238E27FC236}">
                <a16:creationId xmlns:a16="http://schemas.microsoft.com/office/drawing/2014/main" id="{B6AB05FA-6936-4805-A52E-2CE10FE19568}"/>
              </a:ext>
            </a:extLst>
          </p:cNvPr>
          <p:cNvSpPr/>
          <p:nvPr/>
        </p:nvSpPr>
        <p:spPr>
          <a:xfrm>
            <a:off x="9280895" y="3416010"/>
            <a:ext cx="359410" cy="814705"/>
          </a:xfrm>
          <a:custGeom>
            <a:avLst/>
            <a:gdLst/>
            <a:ahLst/>
            <a:cxnLst/>
            <a:rect l="l" t="t" r="r" b="b"/>
            <a:pathLst>
              <a:path w="359410" h="814705">
                <a:moveTo>
                  <a:pt x="358871" y="0"/>
                </a:moveTo>
                <a:lnTo>
                  <a:pt x="0" y="814588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1">
            <a:extLst>
              <a:ext uri="{FF2B5EF4-FFF2-40B4-BE49-F238E27FC236}">
                <a16:creationId xmlns:a16="http://schemas.microsoft.com/office/drawing/2014/main" id="{3B7DE68D-0037-492F-A739-CE191BDFC784}"/>
              </a:ext>
            </a:extLst>
          </p:cNvPr>
          <p:cNvSpPr/>
          <p:nvPr/>
        </p:nvSpPr>
        <p:spPr>
          <a:xfrm>
            <a:off x="9236516" y="4208389"/>
            <a:ext cx="82698" cy="11084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2">
            <a:extLst>
              <a:ext uri="{FF2B5EF4-FFF2-40B4-BE49-F238E27FC236}">
                <a16:creationId xmlns:a16="http://schemas.microsoft.com/office/drawing/2014/main" id="{D86EBFAB-8C2E-4EBD-9BC8-43AEA712BA04}"/>
              </a:ext>
            </a:extLst>
          </p:cNvPr>
          <p:cNvSpPr/>
          <p:nvPr/>
        </p:nvSpPr>
        <p:spPr>
          <a:xfrm>
            <a:off x="9028679" y="4857714"/>
            <a:ext cx="412115" cy="412115"/>
          </a:xfrm>
          <a:custGeom>
            <a:avLst/>
            <a:gdLst/>
            <a:ahLst/>
            <a:cxnLst/>
            <a:rect l="l" t="t" r="r" b="b"/>
            <a:pathLst>
              <a:path w="412115" h="412114">
                <a:moveTo>
                  <a:pt x="205923" y="411847"/>
                </a:moveTo>
                <a:lnTo>
                  <a:pt x="158707" y="406408"/>
                </a:lnTo>
                <a:lnTo>
                  <a:pt x="115363" y="390916"/>
                </a:lnTo>
                <a:lnTo>
                  <a:pt x="77128" y="366608"/>
                </a:lnTo>
                <a:lnTo>
                  <a:pt x="45239" y="334718"/>
                </a:lnTo>
                <a:lnTo>
                  <a:pt x="20930" y="296483"/>
                </a:lnTo>
                <a:lnTo>
                  <a:pt x="5438" y="253139"/>
                </a:lnTo>
                <a:lnTo>
                  <a:pt x="0" y="205923"/>
                </a:lnTo>
                <a:lnTo>
                  <a:pt x="5438" y="158707"/>
                </a:lnTo>
                <a:lnTo>
                  <a:pt x="20930" y="115363"/>
                </a:lnTo>
                <a:lnTo>
                  <a:pt x="45239" y="77128"/>
                </a:lnTo>
                <a:lnTo>
                  <a:pt x="77128" y="45239"/>
                </a:lnTo>
                <a:lnTo>
                  <a:pt x="115363" y="20930"/>
                </a:lnTo>
                <a:lnTo>
                  <a:pt x="158707" y="5438"/>
                </a:lnTo>
                <a:lnTo>
                  <a:pt x="205923" y="0"/>
                </a:lnTo>
                <a:lnTo>
                  <a:pt x="246284" y="3993"/>
                </a:lnTo>
                <a:lnTo>
                  <a:pt x="284727" y="15674"/>
                </a:lnTo>
                <a:lnTo>
                  <a:pt x="320170" y="34597"/>
                </a:lnTo>
                <a:lnTo>
                  <a:pt x="351533" y="60313"/>
                </a:lnTo>
                <a:lnTo>
                  <a:pt x="377249" y="91676"/>
                </a:lnTo>
                <a:lnTo>
                  <a:pt x="396172" y="127119"/>
                </a:lnTo>
                <a:lnTo>
                  <a:pt x="407853" y="165562"/>
                </a:lnTo>
                <a:lnTo>
                  <a:pt x="411847" y="205923"/>
                </a:lnTo>
                <a:lnTo>
                  <a:pt x="406408" y="253139"/>
                </a:lnTo>
                <a:lnTo>
                  <a:pt x="390916" y="296483"/>
                </a:lnTo>
                <a:lnTo>
                  <a:pt x="366608" y="334718"/>
                </a:lnTo>
                <a:lnTo>
                  <a:pt x="334718" y="366608"/>
                </a:lnTo>
                <a:lnTo>
                  <a:pt x="296483" y="390916"/>
                </a:lnTo>
                <a:lnTo>
                  <a:pt x="253140" y="406408"/>
                </a:lnTo>
                <a:lnTo>
                  <a:pt x="205923" y="411847"/>
                </a:lnTo>
                <a:close/>
              </a:path>
            </a:pathLst>
          </a:custGeom>
          <a:solidFill>
            <a:srgbClr val="CEE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3">
            <a:extLst>
              <a:ext uri="{FF2B5EF4-FFF2-40B4-BE49-F238E27FC236}">
                <a16:creationId xmlns:a16="http://schemas.microsoft.com/office/drawing/2014/main" id="{D1F36A08-7552-494D-89FF-A75ACA6A80AD}"/>
              </a:ext>
            </a:extLst>
          </p:cNvPr>
          <p:cNvSpPr/>
          <p:nvPr/>
        </p:nvSpPr>
        <p:spPr>
          <a:xfrm>
            <a:off x="9028679" y="4857714"/>
            <a:ext cx="412115" cy="412115"/>
          </a:xfrm>
          <a:custGeom>
            <a:avLst/>
            <a:gdLst/>
            <a:ahLst/>
            <a:cxnLst/>
            <a:rect l="l" t="t" r="r" b="b"/>
            <a:pathLst>
              <a:path w="412115" h="412114">
                <a:moveTo>
                  <a:pt x="0" y="205923"/>
                </a:moveTo>
                <a:lnTo>
                  <a:pt x="5438" y="158707"/>
                </a:lnTo>
                <a:lnTo>
                  <a:pt x="20930" y="115363"/>
                </a:lnTo>
                <a:lnTo>
                  <a:pt x="45239" y="77128"/>
                </a:lnTo>
                <a:lnTo>
                  <a:pt x="77128" y="45239"/>
                </a:lnTo>
                <a:lnTo>
                  <a:pt x="115363" y="20930"/>
                </a:lnTo>
                <a:lnTo>
                  <a:pt x="158707" y="5438"/>
                </a:lnTo>
                <a:lnTo>
                  <a:pt x="205923" y="0"/>
                </a:lnTo>
                <a:lnTo>
                  <a:pt x="246284" y="3993"/>
                </a:lnTo>
                <a:lnTo>
                  <a:pt x="284727" y="15674"/>
                </a:lnTo>
                <a:lnTo>
                  <a:pt x="320170" y="34597"/>
                </a:lnTo>
                <a:lnTo>
                  <a:pt x="351533" y="60313"/>
                </a:lnTo>
                <a:lnTo>
                  <a:pt x="377249" y="91676"/>
                </a:lnTo>
                <a:lnTo>
                  <a:pt x="396172" y="127119"/>
                </a:lnTo>
                <a:lnTo>
                  <a:pt x="407853" y="165562"/>
                </a:lnTo>
                <a:lnTo>
                  <a:pt x="411847" y="205923"/>
                </a:lnTo>
                <a:lnTo>
                  <a:pt x="406408" y="253139"/>
                </a:lnTo>
                <a:lnTo>
                  <a:pt x="390916" y="296483"/>
                </a:lnTo>
                <a:lnTo>
                  <a:pt x="366608" y="334718"/>
                </a:lnTo>
                <a:lnTo>
                  <a:pt x="334718" y="366608"/>
                </a:lnTo>
                <a:lnTo>
                  <a:pt x="296483" y="390916"/>
                </a:lnTo>
                <a:lnTo>
                  <a:pt x="253140" y="406408"/>
                </a:lnTo>
                <a:lnTo>
                  <a:pt x="205923" y="411847"/>
                </a:lnTo>
                <a:lnTo>
                  <a:pt x="158707" y="406408"/>
                </a:lnTo>
                <a:lnTo>
                  <a:pt x="115363" y="390916"/>
                </a:lnTo>
                <a:lnTo>
                  <a:pt x="77128" y="366608"/>
                </a:lnTo>
                <a:lnTo>
                  <a:pt x="45239" y="334718"/>
                </a:lnTo>
                <a:lnTo>
                  <a:pt x="20930" y="296483"/>
                </a:lnTo>
                <a:lnTo>
                  <a:pt x="5438" y="253139"/>
                </a:lnTo>
                <a:lnTo>
                  <a:pt x="0" y="205923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24">
            <a:extLst>
              <a:ext uri="{FF2B5EF4-FFF2-40B4-BE49-F238E27FC236}">
                <a16:creationId xmlns:a16="http://schemas.microsoft.com/office/drawing/2014/main" id="{9401B0D6-8577-4BF2-9195-B44FCA956551}"/>
              </a:ext>
            </a:extLst>
          </p:cNvPr>
          <p:cNvSpPr txBox="1"/>
          <p:nvPr/>
        </p:nvSpPr>
        <p:spPr>
          <a:xfrm>
            <a:off x="9137145" y="485777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36" name="object 25">
            <a:extLst>
              <a:ext uri="{FF2B5EF4-FFF2-40B4-BE49-F238E27FC236}">
                <a16:creationId xmlns:a16="http://schemas.microsoft.com/office/drawing/2014/main" id="{182E8061-18E2-4BBD-AA9B-82730EA58546}"/>
              </a:ext>
            </a:extLst>
          </p:cNvPr>
          <p:cNvSpPr/>
          <p:nvPr/>
        </p:nvSpPr>
        <p:spPr>
          <a:xfrm>
            <a:off x="9193691" y="4657992"/>
            <a:ext cx="81981" cy="1815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26">
            <a:extLst>
              <a:ext uri="{FF2B5EF4-FFF2-40B4-BE49-F238E27FC236}">
                <a16:creationId xmlns:a16="http://schemas.microsoft.com/office/drawing/2014/main" id="{4A6249C3-202F-458E-96F1-DEF1EEC214DE}"/>
              </a:ext>
            </a:extLst>
          </p:cNvPr>
          <p:cNvSpPr txBox="1"/>
          <p:nvPr/>
        </p:nvSpPr>
        <p:spPr>
          <a:xfrm>
            <a:off x="9073292" y="5469431"/>
            <a:ext cx="323215" cy="323215"/>
          </a:xfrm>
          <a:prstGeom prst="rect">
            <a:avLst/>
          </a:prstGeom>
          <a:solidFill>
            <a:srgbClr val="D9EAD3"/>
          </a:solidFill>
          <a:ln w="9524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6675">
              <a:lnSpc>
                <a:spcPts val="2540"/>
              </a:lnSpc>
            </a:pPr>
            <a:r>
              <a:rPr sz="2400" dirty="0">
                <a:latin typeface="Arial"/>
                <a:cs typeface="Arial"/>
              </a:rPr>
              <a:t>Σ</a:t>
            </a:r>
            <a:endParaRPr sz="2400">
              <a:latin typeface="Arial"/>
              <a:cs typeface="Arial"/>
            </a:endParaRPr>
          </a:p>
        </p:txBody>
      </p:sp>
      <p:sp>
        <p:nvSpPr>
          <p:cNvPr id="38" name="object 27">
            <a:extLst>
              <a:ext uri="{FF2B5EF4-FFF2-40B4-BE49-F238E27FC236}">
                <a16:creationId xmlns:a16="http://schemas.microsoft.com/office/drawing/2014/main" id="{81D48A18-D8FC-4315-B83A-ED517CD6EC05}"/>
              </a:ext>
            </a:extLst>
          </p:cNvPr>
          <p:cNvSpPr/>
          <p:nvPr/>
        </p:nvSpPr>
        <p:spPr>
          <a:xfrm>
            <a:off x="9193612" y="5269562"/>
            <a:ext cx="81981" cy="18159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8">
            <a:extLst>
              <a:ext uri="{FF2B5EF4-FFF2-40B4-BE49-F238E27FC236}">
                <a16:creationId xmlns:a16="http://schemas.microsoft.com/office/drawing/2014/main" id="{97047A03-F5CF-428C-8C92-AED6AD00E5D6}"/>
              </a:ext>
            </a:extLst>
          </p:cNvPr>
          <p:cNvSpPr/>
          <p:nvPr/>
        </p:nvSpPr>
        <p:spPr>
          <a:xfrm>
            <a:off x="9028743" y="5991933"/>
            <a:ext cx="412115" cy="412115"/>
          </a:xfrm>
          <a:custGeom>
            <a:avLst/>
            <a:gdLst/>
            <a:ahLst/>
            <a:cxnLst/>
            <a:rect l="l" t="t" r="r" b="b"/>
            <a:pathLst>
              <a:path w="412115" h="412114">
                <a:moveTo>
                  <a:pt x="205923" y="411847"/>
                </a:moveTo>
                <a:lnTo>
                  <a:pt x="158707" y="406408"/>
                </a:lnTo>
                <a:lnTo>
                  <a:pt x="115363" y="390917"/>
                </a:lnTo>
                <a:lnTo>
                  <a:pt x="77128" y="366608"/>
                </a:lnTo>
                <a:lnTo>
                  <a:pt x="45239" y="334718"/>
                </a:lnTo>
                <a:lnTo>
                  <a:pt x="20930" y="296483"/>
                </a:lnTo>
                <a:lnTo>
                  <a:pt x="5438" y="253140"/>
                </a:lnTo>
                <a:lnTo>
                  <a:pt x="0" y="205923"/>
                </a:lnTo>
                <a:lnTo>
                  <a:pt x="5438" y="158707"/>
                </a:lnTo>
                <a:lnTo>
                  <a:pt x="20930" y="115363"/>
                </a:lnTo>
                <a:lnTo>
                  <a:pt x="45239" y="77129"/>
                </a:lnTo>
                <a:lnTo>
                  <a:pt x="77128" y="45239"/>
                </a:lnTo>
                <a:lnTo>
                  <a:pt x="115363" y="20930"/>
                </a:lnTo>
                <a:lnTo>
                  <a:pt x="158707" y="5438"/>
                </a:lnTo>
                <a:lnTo>
                  <a:pt x="205923" y="0"/>
                </a:lnTo>
                <a:lnTo>
                  <a:pt x="246284" y="3993"/>
                </a:lnTo>
                <a:lnTo>
                  <a:pt x="284727" y="15675"/>
                </a:lnTo>
                <a:lnTo>
                  <a:pt x="320170" y="34597"/>
                </a:lnTo>
                <a:lnTo>
                  <a:pt x="351533" y="60313"/>
                </a:lnTo>
                <a:lnTo>
                  <a:pt x="377249" y="91677"/>
                </a:lnTo>
                <a:lnTo>
                  <a:pt x="396172" y="127120"/>
                </a:lnTo>
                <a:lnTo>
                  <a:pt x="407854" y="165562"/>
                </a:lnTo>
                <a:lnTo>
                  <a:pt x="411847" y="205923"/>
                </a:lnTo>
                <a:lnTo>
                  <a:pt x="406408" y="253140"/>
                </a:lnTo>
                <a:lnTo>
                  <a:pt x="390917" y="296483"/>
                </a:lnTo>
                <a:lnTo>
                  <a:pt x="366608" y="334718"/>
                </a:lnTo>
                <a:lnTo>
                  <a:pt x="334718" y="366608"/>
                </a:lnTo>
                <a:lnTo>
                  <a:pt x="296483" y="390917"/>
                </a:lnTo>
                <a:lnTo>
                  <a:pt x="253140" y="406408"/>
                </a:lnTo>
                <a:lnTo>
                  <a:pt x="205923" y="411847"/>
                </a:lnTo>
                <a:close/>
              </a:path>
            </a:pathLst>
          </a:custGeom>
          <a:solidFill>
            <a:srgbClr val="CEE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9">
            <a:extLst>
              <a:ext uri="{FF2B5EF4-FFF2-40B4-BE49-F238E27FC236}">
                <a16:creationId xmlns:a16="http://schemas.microsoft.com/office/drawing/2014/main" id="{09787ADE-0D99-49D9-96C4-10249EC2526A}"/>
              </a:ext>
            </a:extLst>
          </p:cNvPr>
          <p:cNvSpPr/>
          <p:nvPr/>
        </p:nvSpPr>
        <p:spPr>
          <a:xfrm>
            <a:off x="9028743" y="5991933"/>
            <a:ext cx="412115" cy="412115"/>
          </a:xfrm>
          <a:custGeom>
            <a:avLst/>
            <a:gdLst/>
            <a:ahLst/>
            <a:cxnLst/>
            <a:rect l="l" t="t" r="r" b="b"/>
            <a:pathLst>
              <a:path w="412115" h="412114">
                <a:moveTo>
                  <a:pt x="0" y="205923"/>
                </a:moveTo>
                <a:lnTo>
                  <a:pt x="5438" y="158707"/>
                </a:lnTo>
                <a:lnTo>
                  <a:pt x="20930" y="115363"/>
                </a:lnTo>
                <a:lnTo>
                  <a:pt x="45239" y="77129"/>
                </a:lnTo>
                <a:lnTo>
                  <a:pt x="77128" y="45239"/>
                </a:lnTo>
                <a:lnTo>
                  <a:pt x="115363" y="20930"/>
                </a:lnTo>
                <a:lnTo>
                  <a:pt x="158707" y="5438"/>
                </a:lnTo>
                <a:lnTo>
                  <a:pt x="205923" y="0"/>
                </a:lnTo>
                <a:lnTo>
                  <a:pt x="246284" y="3993"/>
                </a:lnTo>
                <a:lnTo>
                  <a:pt x="284727" y="15675"/>
                </a:lnTo>
                <a:lnTo>
                  <a:pt x="320170" y="34597"/>
                </a:lnTo>
                <a:lnTo>
                  <a:pt x="351533" y="60313"/>
                </a:lnTo>
                <a:lnTo>
                  <a:pt x="377249" y="91677"/>
                </a:lnTo>
                <a:lnTo>
                  <a:pt x="396172" y="127120"/>
                </a:lnTo>
                <a:lnTo>
                  <a:pt x="407854" y="165562"/>
                </a:lnTo>
                <a:lnTo>
                  <a:pt x="411847" y="205923"/>
                </a:lnTo>
                <a:lnTo>
                  <a:pt x="406408" y="253140"/>
                </a:lnTo>
                <a:lnTo>
                  <a:pt x="390917" y="296483"/>
                </a:lnTo>
                <a:lnTo>
                  <a:pt x="366608" y="334718"/>
                </a:lnTo>
                <a:lnTo>
                  <a:pt x="334718" y="366608"/>
                </a:lnTo>
                <a:lnTo>
                  <a:pt x="296483" y="390917"/>
                </a:lnTo>
                <a:lnTo>
                  <a:pt x="253140" y="406408"/>
                </a:lnTo>
                <a:lnTo>
                  <a:pt x="205923" y="411847"/>
                </a:lnTo>
                <a:lnTo>
                  <a:pt x="158707" y="406408"/>
                </a:lnTo>
                <a:lnTo>
                  <a:pt x="115363" y="390917"/>
                </a:lnTo>
                <a:lnTo>
                  <a:pt x="77128" y="366608"/>
                </a:lnTo>
                <a:lnTo>
                  <a:pt x="45239" y="334718"/>
                </a:lnTo>
                <a:lnTo>
                  <a:pt x="20930" y="296483"/>
                </a:lnTo>
                <a:lnTo>
                  <a:pt x="5438" y="253140"/>
                </a:lnTo>
                <a:lnTo>
                  <a:pt x="0" y="205923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0">
            <a:extLst>
              <a:ext uri="{FF2B5EF4-FFF2-40B4-BE49-F238E27FC236}">
                <a16:creationId xmlns:a16="http://schemas.microsoft.com/office/drawing/2014/main" id="{ACF89BEB-5F9D-412B-85D6-8A1B72FF0E59}"/>
              </a:ext>
            </a:extLst>
          </p:cNvPr>
          <p:cNvSpPr txBox="1"/>
          <p:nvPr/>
        </p:nvSpPr>
        <p:spPr>
          <a:xfrm>
            <a:off x="9145767" y="599198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sp>
        <p:nvSpPr>
          <p:cNvPr id="42" name="object 31">
            <a:extLst>
              <a:ext uri="{FF2B5EF4-FFF2-40B4-BE49-F238E27FC236}">
                <a16:creationId xmlns:a16="http://schemas.microsoft.com/office/drawing/2014/main" id="{B71D8970-FE07-413C-9015-F1A6C53B7861}"/>
              </a:ext>
            </a:extLst>
          </p:cNvPr>
          <p:cNvSpPr/>
          <p:nvPr/>
        </p:nvSpPr>
        <p:spPr>
          <a:xfrm>
            <a:off x="9193670" y="5792168"/>
            <a:ext cx="81981" cy="18159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内容占位符 1">
            <a:extLst>
              <a:ext uri="{FF2B5EF4-FFF2-40B4-BE49-F238E27FC236}">
                <a16:creationId xmlns:a16="http://schemas.microsoft.com/office/drawing/2014/main" id="{7256C9F6-0305-4F56-AA45-257BD4C651A6}"/>
              </a:ext>
            </a:extLst>
          </p:cNvPr>
          <p:cNvSpPr txBox="1">
            <a:spLocks/>
          </p:cNvSpPr>
          <p:nvPr/>
        </p:nvSpPr>
        <p:spPr>
          <a:xfrm>
            <a:off x="485681" y="1428467"/>
            <a:ext cx="10992491" cy="4819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p"/>
            </a:pPr>
            <a:r>
              <a:rPr lang="zh-CN" altLang="en-US" sz="1600" dirty="0"/>
              <a:t>编程语言简单</a:t>
            </a:r>
            <a:r>
              <a:rPr lang="en-US" altLang="zh-CN" sz="1600" dirty="0"/>
              <a:t>—</a:t>
            </a:r>
            <a:r>
              <a:rPr lang="zh-CN" altLang="en-US" sz="1600" dirty="0"/>
              <a:t>与</a:t>
            </a:r>
            <a:r>
              <a:rPr lang="en-US" altLang="zh-CN" sz="1600" dirty="0" err="1"/>
              <a:t>numpy</a:t>
            </a:r>
            <a:r>
              <a:rPr lang="zh-CN" altLang="en-US" sz="1600" dirty="0"/>
              <a:t>语法类似</a:t>
            </a:r>
            <a:endParaRPr lang="en-US" altLang="zh-CN" sz="1600" dirty="0"/>
          </a:p>
        </p:txBody>
      </p:sp>
      <p:sp>
        <p:nvSpPr>
          <p:cNvPr id="44" name="标题 2">
            <a:extLst>
              <a:ext uri="{FF2B5EF4-FFF2-40B4-BE49-F238E27FC236}">
                <a16:creationId xmlns:a16="http://schemas.microsoft.com/office/drawing/2014/main" id="{3BE4DB28-7A64-4CA3-9528-56E661ABB76E}"/>
              </a:ext>
            </a:extLst>
          </p:cNvPr>
          <p:cNvSpPr txBox="1">
            <a:spLocks/>
          </p:cNvSpPr>
          <p:nvPr/>
        </p:nvSpPr>
        <p:spPr>
          <a:xfrm>
            <a:off x="486099" y="359153"/>
            <a:ext cx="3637798" cy="585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000"/>
              <a:t>Why Pytorch</a:t>
            </a:r>
            <a:r>
              <a:rPr lang="zh-CN" altLang="en-US" sz="2000"/>
              <a:t>？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21406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内容占位符 1">
            <a:extLst>
              <a:ext uri="{FF2B5EF4-FFF2-40B4-BE49-F238E27FC236}">
                <a16:creationId xmlns:a16="http://schemas.microsoft.com/office/drawing/2014/main" id="{7256C9F6-0305-4F56-AA45-257BD4C651A6}"/>
              </a:ext>
            </a:extLst>
          </p:cNvPr>
          <p:cNvSpPr txBox="1">
            <a:spLocks/>
          </p:cNvSpPr>
          <p:nvPr/>
        </p:nvSpPr>
        <p:spPr>
          <a:xfrm>
            <a:off x="486098" y="1427272"/>
            <a:ext cx="10608681" cy="4819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p"/>
            </a:pPr>
            <a:r>
              <a:rPr lang="zh-CN" altLang="en-US" sz="1600" dirty="0"/>
              <a:t>只需设计前向传播过程，反向传播过程中梯度自动计算</a:t>
            </a:r>
            <a:endParaRPr lang="en-US" altLang="zh-CN" sz="1600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F98EDFE-95B9-41CF-9FF8-EB06A7C42492}"/>
              </a:ext>
            </a:extLst>
          </p:cNvPr>
          <p:cNvGrpSpPr/>
          <p:nvPr/>
        </p:nvGrpSpPr>
        <p:grpSpPr>
          <a:xfrm>
            <a:off x="6109348" y="3604800"/>
            <a:ext cx="3404937" cy="2153653"/>
            <a:chOff x="1263316" y="2815389"/>
            <a:chExt cx="3404937" cy="2153653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A73AE705-6BE5-4A26-98ED-15FD1646C166}"/>
                </a:ext>
              </a:extLst>
            </p:cNvPr>
            <p:cNvSpPr txBox="1"/>
            <p:nvPr/>
          </p:nvSpPr>
          <p:spPr>
            <a:xfrm>
              <a:off x="1648326" y="3175954"/>
              <a:ext cx="974558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/>
                <a:t>data</a:t>
              </a:r>
              <a:endParaRPr lang="zh-CN" altLang="en-US" sz="28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7AF13FEF-A1CF-471C-B2CB-14FBCF33192B}"/>
                </a:ext>
              </a:extLst>
            </p:cNvPr>
            <p:cNvSpPr txBox="1"/>
            <p:nvPr/>
          </p:nvSpPr>
          <p:spPr>
            <a:xfrm>
              <a:off x="3227640" y="3175954"/>
              <a:ext cx="974558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/>
                <a:t>grad</a:t>
              </a:r>
              <a:endParaRPr lang="zh-CN" altLang="en-US" sz="2800" dirty="0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940C5613-DFF9-420E-9020-6BBB9D3EFE05}"/>
                </a:ext>
              </a:extLst>
            </p:cNvPr>
            <p:cNvSpPr txBox="1"/>
            <p:nvPr/>
          </p:nvSpPr>
          <p:spPr>
            <a:xfrm>
              <a:off x="2249906" y="4042192"/>
              <a:ext cx="1319463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/>
                <a:t>creator</a:t>
              </a:r>
              <a:endParaRPr lang="zh-CN" altLang="en-US" sz="2800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5C5EED9-8E66-4E37-8DB5-B8180EAA8226}"/>
                </a:ext>
              </a:extLst>
            </p:cNvPr>
            <p:cNvSpPr/>
            <p:nvPr/>
          </p:nvSpPr>
          <p:spPr>
            <a:xfrm>
              <a:off x="1263316" y="2815389"/>
              <a:ext cx="3404937" cy="215365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内容占位符 1">
            <a:extLst>
              <a:ext uri="{FF2B5EF4-FFF2-40B4-BE49-F238E27FC236}">
                <a16:creationId xmlns:a16="http://schemas.microsoft.com/office/drawing/2014/main" id="{7A51FC8E-4BD7-4DEF-9E96-0DFA7AEAF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098" y="1890493"/>
            <a:ext cx="11075437" cy="11746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400" dirty="0"/>
              <a:t>对于每一个中间数据，记录其产生的方式，用于反向传播中计算梯度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8DB84F4-1958-4FBA-B64B-52D42F90FEB7}"/>
                  </a:ext>
                </a:extLst>
              </p:cNvPr>
              <p:cNvSpPr txBox="1"/>
              <p:nvPr/>
            </p:nvSpPr>
            <p:spPr>
              <a:xfrm>
                <a:off x="1545656" y="2733782"/>
                <a:ext cx="208146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i="1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altLang="zh-CN" sz="1600" dirty="0"/>
                  <a:t>=2x+2</a:t>
                </a:r>
                <a:endParaRPr lang="zh-CN" altLang="en-US" sz="16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8DB84F4-1958-4FBA-B64B-52D42F90F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656" y="2733782"/>
                <a:ext cx="2081464" cy="246221"/>
              </a:xfrm>
              <a:prstGeom prst="rect">
                <a:avLst/>
              </a:prstGeom>
              <a:blipFill>
                <a:blip r:embed="rId2"/>
                <a:stretch>
                  <a:fillRect l="-3519" t="-24390" b="-48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7630BBE-0C73-42FB-B5C2-9EC493B85F14}"/>
                  </a:ext>
                </a:extLst>
              </p:cNvPr>
              <p:cNvSpPr txBox="1"/>
              <p:nvPr/>
            </p:nvSpPr>
            <p:spPr>
              <a:xfrm>
                <a:off x="1538189" y="3965365"/>
                <a:ext cx="1740032" cy="3894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L</m:t>
                        </m:r>
                      </m:num>
                      <m:den>
                        <m:r>
                          <a:rPr lang="zh-CN" altLang="en-US" sz="16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L</m:t>
                        </m:r>
                      </m:num>
                      <m:den>
                        <m:r>
                          <a:rPr lang="zh-CN" altLang="en-US" sz="16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zh-CN" altLang="en-US" sz="16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lang="en-US" altLang="zh-CN" sz="1600" dirty="0"/>
                  <a:t>=2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L</m:t>
                        </m:r>
                      </m:num>
                      <m:den>
                        <m:r>
                          <a:rPr lang="zh-CN" altLang="en-US" sz="16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7630BBE-0C73-42FB-B5C2-9EC493B85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189" y="3965365"/>
                <a:ext cx="1740032" cy="389466"/>
              </a:xfrm>
              <a:prstGeom prst="rect">
                <a:avLst/>
              </a:prstGeom>
              <a:blipFill>
                <a:blip r:embed="rId3"/>
                <a:stretch>
                  <a:fillRect l="-3147" b="-140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标题 2">
            <a:extLst>
              <a:ext uri="{FF2B5EF4-FFF2-40B4-BE49-F238E27FC236}">
                <a16:creationId xmlns:a16="http://schemas.microsoft.com/office/drawing/2014/main" id="{552999DB-B943-4164-B617-7AAE273E3B16}"/>
              </a:ext>
            </a:extLst>
          </p:cNvPr>
          <p:cNvSpPr txBox="1">
            <a:spLocks/>
          </p:cNvSpPr>
          <p:nvPr/>
        </p:nvSpPr>
        <p:spPr>
          <a:xfrm>
            <a:off x="486099" y="359153"/>
            <a:ext cx="3637798" cy="585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000"/>
              <a:t>Why Pytorch</a:t>
            </a:r>
            <a:r>
              <a:rPr lang="zh-CN" altLang="en-US" sz="2000"/>
              <a:t>？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24827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内容占位符 1">
            <a:extLst>
              <a:ext uri="{FF2B5EF4-FFF2-40B4-BE49-F238E27FC236}">
                <a16:creationId xmlns:a16="http://schemas.microsoft.com/office/drawing/2014/main" id="{7256C9F6-0305-4F56-AA45-257BD4C651A6}"/>
              </a:ext>
            </a:extLst>
          </p:cNvPr>
          <p:cNvSpPr txBox="1">
            <a:spLocks/>
          </p:cNvSpPr>
          <p:nvPr/>
        </p:nvSpPr>
        <p:spPr>
          <a:xfrm>
            <a:off x="486099" y="1429375"/>
            <a:ext cx="10665024" cy="4819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p"/>
            </a:pPr>
            <a:r>
              <a:rPr lang="zh-CN" altLang="en-US" sz="1600" dirty="0"/>
              <a:t>动态图，方便调试</a:t>
            </a:r>
            <a:endParaRPr lang="en-US" altLang="zh-CN" sz="160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8FAE10-E185-4023-9BAA-B143D4CB1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099" y="1937871"/>
            <a:ext cx="11118526" cy="4819167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altLang="zh-CN" sz="1400" dirty="0" err="1"/>
              <a:t>PyTorch</a:t>
            </a:r>
            <a:r>
              <a:rPr lang="zh-CN" altLang="en-US" sz="1400" dirty="0"/>
              <a:t>动态构建神经网络，执行到代码位置， 才开始构建这句代码所描述的网络节点， 然后把这一节点挂在计算图上。 可以让用户在动态改变神经网络时，不产生任何滞后和开销。它直观， 精简， 极度灵活。 缺点也非常明显，那就是运行效率和开销。 </a:t>
            </a:r>
            <a:endParaRPr lang="en-US" altLang="zh-CN" sz="1400" dirty="0"/>
          </a:p>
          <a:p>
            <a:pPr>
              <a:lnSpc>
                <a:spcPct val="250000"/>
              </a:lnSpc>
            </a:pPr>
            <a:r>
              <a:rPr lang="en-US" altLang="zh-CN" sz="1400" dirty="0" err="1"/>
              <a:t>Tensorflow</a:t>
            </a:r>
            <a:r>
              <a:rPr lang="zh-CN" altLang="en-US" sz="1400" dirty="0"/>
              <a:t>、</a:t>
            </a:r>
            <a:r>
              <a:rPr lang="en-US" altLang="zh-CN" sz="1400" dirty="0"/>
              <a:t>Caffe</a:t>
            </a:r>
            <a:r>
              <a:rPr lang="zh-CN" altLang="en-US" sz="1400" dirty="0"/>
              <a:t>都采用静态构建方式。用户需要先构建神经网络结构，然后在给定的结构上填入数据，再进行一次又一次的运行。能够对预先定义的网络进行多种优化处理，从而运行的更高效。但缺点也非常明显，即不够灵活，而且被优化后的网络，对用户不友好，调试时难以轻松知道程序的状态， 而且一旦用户想要根据计算的状态，动态的修改神经网络结构，那么实现起来会非常困难。</a:t>
            </a:r>
            <a:endParaRPr lang="en-US" altLang="zh-CN" sz="1400" dirty="0"/>
          </a:p>
          <a:p>
            <a:pPr>
              <a:lnSpc>
                <a:spcPct val="250000"/>
              </a:lnSpc>
            </a:pPr>
            <a:r>
              <a:rPr lang="en-US" altLang="zh-CN" sz="1400" dirty="0" err="1"/>
              <a:t>PyTorch</a:t>
            </a:r>
            <a:r>
              <a:rPr lang="zh-CN" altLang="en-US" sz="1400" dirty="0"/>
              <a:t>这一工具的定位： 帮助科研人员和工程师， 快速探索和调整模型， 快速构建实验，更适合从</a:t>
            </a:r>
            <a:r>
              <a:rPr lang="en-US" altLang="zh-CN" sz="1400" dirty="0"/>
              <a:t>0</a:t>
            </a:r>
            <a:r>
              <a:rPr lang="zh-CN" altLang="en-US" sz="1400" dirty="0"/>
              <a:t>到</a:t>
            </a:r>
            <a:r>
              <a:rPr lang="en-US" altLang="zh-CN" sz="1400" dirty="0"/>
              <a:t>1</a:t>
            </a:r>
            <a:r>
              <a:rPr lang="zh-CN" altLang="en-US" sz="1400" dirty="0"/>
              <a:t>的创新工作， 而静态图</a:t>
            </a:r>
            <a:r>
              <a:rPr lang="en-US" altLang="zh-CN" sz="1400" dirty="0" err="1"/>
              <a:t>Tensorflow</a:t>
            </a:r>
            <a:r>
              <a:rPr lang="zh-CN" altLang="en-US" sz="1400" dirty="0"/>
              <a:t>，更适合已经有了模型， 我们要运用到某些高强度的训练和测试的应用环境下。更适合工业应用。</a:t>
            </a:r>
            <a:endParaRPr lang="en-US" altLang="zh-CN" sz="1400" dirty="0"/>
          </a:p>
          <a:p>
            <a:endParaRPr lang="en-US" altLang="zh-CN" sz="1400" dirty="0"/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D9CE5057-6C7A-40D1-ACD6-DEF31D855C5C}"/>
              </a:ext>
            </a:extLst>
          </p:cNvPr>
          <p:cNvSpPr txBox="1">
            <a:spLocks/>
          </p:cNvSpPr>
          <p:nvPr/>
        </p:nvSpPr>
        <p:spPr>
          <a:xfrm>
            <a:off x="486099" y="359153"/>
            <a:ext cx="3637798" cy="585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000" dirty="0"/>
              <a:t>Why </a:t>
            </a:r>
            <a:r>
              <a:rPr lang="en-US" altLang="zh-CN" sz="2000" dirty="0" err="1"/>
              <a:t>Pytorch</a:t>
            </a:r>
            <a:r>
              <a:rPr lang="zh-CN" altLang="en-US" sz="2000" dirty="0"/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3400159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F36AA8D-C796-427D-9118-947AEA19A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1340183"/>
            <a:ext cx="10779484" cy="4819167"/>
          </a:xfrm>
        </p:spPr>
        <p:txBody>
          <a:bodyPr/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zh-CN" altLang="en-US" sz="18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深度学习框架</a:t>
            </a:r>
            <a:r>
              <a:rPr lang="en-US" altLang="zh-CN" sz="1800" b="1" dirty="0" err="1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Pytorch</a:t>
            </a:r>
            <a:r>
              <a:rPr lang="zh-CN" altLang="en-US" sz="18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简介</a:t>
            </a:r>
            <a:endParaRPr lang="en-US" altLang="zh-CN" sz="1800" b="1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en-US" altLang="zh-CN" sz="1800" b="1" dirty="0" err="1">
                <a:solidFill>
                  <a:prstClr val="black"/>
                </a:solidFill>
                <a:latin typeface="+mn-ea"/>
                <a:ea typeface="+mn-ea"/>
              </a:rPr>
              <a:t>Pytorch</a:t>
            </a:r>
            <a:r>
              <a:rPr lang="zh-CN" altLang="en-US" sz="1800" b="1" dirty="0">
                <a:solidFill>
                  <a:prstClr val="black"/>
                </a:solidFill>
                <a:latin typeface="+mn-ea"/>
                <a:ea typeface="+mn-ea"/>
              </a:rPr>
              <a:t>安装</a:t>
            </a:r>
            <a:endParaRPr lang="en-US" altLang="zh-CN" sz="1800" b="1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en-US" altLang="zh-CN" sz="1800" b="1" dirty="0" err="1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Pytorch</a:t>
            </a:r>
            <a:r>
              <a:rPr lang="zh-CN" altLang="en-US" sz="18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的基本组成元素</a:t>
            </a:r>
            <a:endParaRPr lang="en-US" altLang="zh-CN" sz="1800" b="1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en-US" altLang="zh-CN" sz="1800" b="1" dirty="0" err="1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Pytorch</a:t>
            </a:r>
            <a:r>
              <a:rPr lang="zh-CN" altLang="en-US" sz="18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构建神经网络</a:t>
            </a:r>
            <a:endParaRPr lang="en-US" altLang="zh-CN" sz="1800" b="1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None/>
            </a:pPr>
            <a:endParaRPr lang="zh-CN" altLang="en-US" dirty="0"/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F93EFB38-FC3E-42CA-90E9-619B3A5F2237}"/>
              </a:ext>
            </a:extLst>
          </p:cNvPr>
          <p:cNvSpPr txBox="1">
            <a:spLocks/>
          </p:cNvSpPr>
          <p:nvPr/>
        </p:nvSpPr>
        <p:spPr>
          <a:xfrm>
            <a:off x="486099" y="359153"/>
            <a:ext cx="3637798" cy="585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000" dirty="0"/>
              <a:t>课程内容</a:t>
            </a:r>
          </a:p>
        </p:txBody>
      </p:sp>
    </p:spTree>
    <p:extLst>
      <p:ext uri="{BB962C8B-B14F-4D97-AF65-F5344CB8AC3E}">
        <p14:creationId xmlns:p14="http://schemas.microsoft.com/office/powerpoint/2010/main" val="1361718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>
            <a:extLst>
              <a:ext uri="{FF2B5EF4-FFF2-40B4-BE49-F238E27FC236}">
                <a16:creationId xmlns:a16="http://schemas.microsoft.com/office/drawing/2014/main" id="{90203096-D31A-4F36-859D-703FE1C19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94" y="1426946"/>
            <a:ext cx="11075437" cy="48191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1600" dirty="0"/>
              <a:t> 源码安装：适配不同的</a:t>
            </a:r>
            <a:r>
              <a:rPr lang="en-US" altLang="zh-CN" sz="1600" dirty="0" err="1"/>
              <a:t>cuda</a:t>
            </a:r>
            <a:endParaRPr lang="en-US" altLang="zh-CN" sz="1600" dirty="0"/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1600" dirty="0"/>
              <a:t> pip</a:t>
            </a:r>
            <a:r>
              <a:rPr lang="zh-CN" altLang="en-US" sz="1600" dirty="0"/>
              <a:t>：不利于多版本共存</a:t>
            </a:r>
            <a:endParaRPr lang="en-US" altLang="zh-CN" sz="1600" dirty="0"/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1600" dirty="0"/>
              <a:t> </a:t>
            </a:r>
            <a:r>
              <a:rPr lang="en-US" altLang="zh-CN" sz="1600" dirty="0" err="1"/>
              <a:t>conda</a:t>
            </a:r>
            <a:r>
              <a:rPr lang="zh-CN" altLang="en-US" sz="1600" dirty="0"/>
              <a:t>：包管理、环境管理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079435A-5B35-48B0-A90A-B604ACA48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318" y="3480422"/>
            <a:ext cx="6921363" cy="2658900"/>
          </a:xfrm>
          <a:prstGeom prst="rect">
            <a:avLst/>
          </a:prstGeom>
        </p:spPr>
      </p:pic>
      <p:sp>
        <p:nvSpPr>
          <p:cNvPr id="5" name="标题 2">
            <a:extLst>
              <a:ext uri="{FF2B5EF4-FFF2-40B4-BE49-F238E27FC236}">
                <a16:creationId xmlns:a16="http://schemas.microsoft.com/office/drawing/2014/main" id="{8D1A64B2-381F-4F8A-A5F5-CA1924B633B1}"/>
              </a:ext>
            </a:extLst>
          </p:cNvPr>
          <p:cNvSpPr txBox="1">
            <a:spLocks/>
          </p:cNvSpPr>
          <p:nvPr/>
        </p:nvSpPr>
        <p:spPr>
          <a:xfrm>
            <a:off x="486099" y="359153"/>
            <a:ext cx="3637798" cy="585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000" dirty="0" err="1"/>
              <a:t>Pytorch</a:t>
            </a:r>
            <a:r>
              <a:rPr lang="en-US" altLang="zh-CN" sz="2000" dirty="0"/>
              <a:t> </a:t>
            </a:r>
            <a:r>
              <a:rPr lang="zh-CN" altLang="en-US" sz="2000" dirty="0"/>
              <a:t>安装</a:t>
            </a:r>
          </a:p>
        </p:txBody>
      </p:sp>
    </p:spTree>
    <p:extLst>
      <p:ext uri="{BB962C8B-B14F-4D97-AF65-F5344CB8AC3E}">
        <p14:creationId xmlns:p14="http://schemas.microsoft.com/office/powerpoint/2010/main" val="3013449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C8A524F7-3047-4C97-B9B9-30B19DB4D5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6050" y="4234531"/>
            <a:ext cx="6418575" cy="187569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D83CA3D-87ED-4C79-94FC-0A1FAB70CEDA}"/>
              </a:ext>
            </a:extLst>
          </p:cNvPr>
          <p:cNvSpPr/>
          <p:nvPr/>
        </p:nvSpPr>
        <p:spPr>
          <a:xfrm>
            <a:off x="479425" y="6235349"/>
            <a:ext cx="98647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 err="1"/>
              <a:t>cuda</a:t>
            </a:r>
            <a:r>
              <a:rPr lang="zh-CN" altLang="en-US" sz="1400" b="1" dirty="0"/>
              <a:t>9.0</a:t>
            </a:r>
            <a:r>
              <a:rPr lang="zh-CN" altLang="en-US" sz="1400" dirty="0"/>
              <a:t>： </a:t>
            </a:r>
            <a:r>
              <a:rPr lang="zh-CN" altLang="en-US" sz="1400" dirty="0">
                <a:hlinkClick r:id="rId3"/>
              </a:rPr>
              <a:t>https://developer.nvidia.com/cuda-90-download-archive2</a:t>
            </a:r>
            <a:endParaRPr lang="en-US" altLang="zh-CN" sz="1400" dirty="0"/>
          </a:p>
          <a:p>
            <a:r>
              <a:rPr lang="zh-CN" altLang="en-US" sz="1400" b="1" dirty="0"/>
              <a:t>anconda3.7</a:t>
            </a:r>
            <a:r>
              <a:rPr lang="en-US" altLang="zh-CN" sz="1400" dirty="0"/>
              <a:t>:</a:t>
            </a:r>
            <a:r>
              <a:rPr lang="zh-CN" altLang="en-US" sz="1400" dirty="0"/>
              <a:t> </a:t>
            </a:r>
            <a:r>
              <a:rPr lang="zh-CN" altLang="en-US" sz="1400" dirty="0">
                <a:hlinkClick r:id="rId4"/>
              </a:rPr>
              <a:t>https://repo.anaconda.com/archive/Anaconda3-5.2.0-Windows-x86_64.exe3</a:t>
            </a:r>
            <a:endParaRPr lang="en-US" altLang="zh-CN" sz="1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541DE8-CD82-4FBE-852A-4965447480A5}"/>
              </a:ext>
            </a:extLst>
          </p:cNvPr>
          <p:cNvSpPr/>
          <p:nvPr/>
        </p:nvSpPr>
        <p:spPr>
          <a:xfrm>
            <a:off x="490492" y="1287099"/>
            <a:ext cx="11114133" cy="3905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400" dirty="0">
                <a:latin typeface="+mn-ea"/>
              </a:rPr>
              <a:t>Q:</a:t>
            </a:r>
            <a:r>
              <a:rPr lang="zh-CN" altLang="en-US" sz="1400" dirty="0">
                <a:latin typeface="+mn-ea"/>
              </a:rPr>
              <a:t> 用conda安装Pytorch过程中可能会连接失败，这是因为Anaconda.org的服务器在国外。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+mn-ea"/>
              </a:rPr>
              <a:t>A: </a:t>
            </a:r>
            <a:r>
              <a:rPr lang="zh-CN" altLang="en-US" sz="1400" dirty="0">
                <a:latin typeface="+mn-ea"/>
              </a:rPr>
              <a:t>在这里可以用清华TUNA镜像源，包含Anaconda仓库的镜像，将其加入conda的配置，配置如下：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+mn-ea"/>
              </a:rPr>
              <a:t>	</a:t>
            </a:r>
            <a:r>
              <a:rPr lang="zh-CN" altLang="en-US" sz="1400" dirty="0">
                <a:latin typeface="+mn-ea"/>
              </a:rPr>
              <a:t>$ conda config --add channels </a:t>
            </a:r>
            <a:r>
              <a:rPr lang="en-US" altLang="zh-CN" sz="1400" dirty="0">
                <a:latin typeface="+mn-ea"/>
              </a:rPr>
              <a:t>https://mirrors.tuna.tsinghua.edu.cn/anaconda/pkgs/main</a:t>
            </a: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+mn-ea"/>
              </a:rPr>
              <a:t>	$ </a:t>
            </a:r>
            <a:r>
              <a:rPr lang="zh-CN" altLang="en-US" sz="1400" dirty="0">
                <a:latin typeface="+mn-ea"/>
              </a:rPr>
              <a:t>conda config --add channels </a:t>
            </a:r>
            <a:r>
              <a:rPr lang="en-US" altLang="zh-CN" sz="1400" dirty="0">
                <a:latin typeface="+mn-ea"/>
              </a:rPr>
              <a:t>https://mirrors.tuna.tsinghua.edu.cn/anaconda/pkgs/r</a:t>
            </a: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+mn-ea"/>
              </a:rPr>
              <a:t>	$ </a:t>
            </a:r>
            <a:r>
              <a:rPr lang="it-IT" altLang="zh-CN" sz="1400" dirty="0">
                <a:latin typeface="+mn-ea"/>
              </a:rPr>
              <a:t>conda config --add channels https://mirrors.tuna.tsinghua.edu.cn/anaconda/pkgs/msys2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+mn-ea"/>
              </a:rPr>
              <a:t>	$ </a:t>
            </a:r>
            <a:r>
              <a:rPr lang="it-IT" altLang="zh-CN" sz="1400" dirty="0">
                <a:latin typeface="+mn-ea"/>
              </a:rPr>
              <a:t>conda config --add channels https://mirrors.tuna.tsinghua.edu.cn/anaconda/cloud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+mn-ea"/>
              </a:rPr>
              <a:t>	</a:t>
            </a:r>
            <a:r>
              <a:rPr lang="zh-CN" altLang="en-US" sz="1400" dirty="0">
                <a:latin typeface="+mn-ea"/>
              </a:rPr>
              <a:t>$ conda config --set show_channel_urls yes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+mn-ea"/>
              </a:rPr>
              <a:t>	</a:t>
            </a:r>
            <a:r>
              <a:rPr lang="zh-CN" altLang="en-US" sz="1400" dirty="0">
                <a:latin typeface="+mn-ea"/>
              </a:rPr>
              <a:t>$ conda config --set </a:t>
            </a:r>
            <a:r>
              <a:rPr lang="en-US" altLang="zh-CN" sz="1400" dirty="0" err="1">
                <a:latin typeface="+mn-ea"/>
              </a:rPr>
              <a:t>allow_other_channels</a:t>
            </a:r>
            <a:r>
              <a:rPr lang="en-US" altLang="zh-CN" sz="1400" dirty="0">
                <a:latin typeface="+mn-ea"/>
              </a:rPr>
              <a:t> </a:t>
            </a:r>
            <a:r>
              <a:rPr lang="zh-CN" altLang="en-US" sz="1400" dirty="0">
                <a:latin typeface="+mn-ea"/>
              </a:rPr>
              <a:t>yes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+mn-ea"/>
              </a:rPr>
              <a:t>	</a:t>
            </a:r>
            <a:r>
              <a:rPr lang="zh-CN" altLang="en-US" sz="1400" dirty="0">
                <a:latin typeface="+mn-ea"/>
              </a:rPr>
              <a:t>$ conda config --set </a:t>
            </a:r>
            <a:r>
              <a:rPr lang="en-US" altLang="zh-CN" sz="1400" dirty="0" err="1">
                <a:latin typeface="+mn-ea"/>
              </a:rPr>
              <a:t>use_pip</a:t>
            </a:r>
            <a:r>
              <a:rPr lang="en-US" altLang="zh-CN" sz="1400" dirty="0">
                <a:latin typeface="+mn-ea"/>
              </a:rPr>
              <a:t> </a:t>
            </a:r>
            <a:r>
              <a:rPr lang="zh-CN" altLang="en-US" sz="1400" dirty="0">
                <a:latin typeface="+mn-ea"/>
              </a:rPr>
              <a:t>yes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F30541-8C25-4849-92AE-ED1634FFF3BF}"/>
              </a:ext>
            </a:extLst>
          </p:cNvPr>
          <p:cNvSpPr/>
          <p:nvPr/>
        </p:nvSpPr>
        <p:spPr>
          <a:xfrm>
            <a:off x="6643051" y="5474086"/>
            <a:ext cx="2681159" cy="3860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2">
            <a:extLst>
              <a:ext uri="{FF2B5EF4-FFF2-40B4-BE49-F238E27FC236}">
                <a16:creationId xmlns:a16="http://schemas.microsoft.com/office/drawing/2014/main" id="{4EB51026-25F9-4B81-A0AB-D740FD4391AC}"/>
              </a:ext>
            </a:extLst>
          </p:cNvPr>
          <p:cNvSpPr txBox="1">
            <a:spLocks/>
          </p:cNvSpPr>
          <p:nvPr/>
        </p:nvSpPr>
        <p:spPr>
          <a:xfrm>
            <a:off x="486098" y="359153"/>
            <a:ext cx="5609901" cy="585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000" dirty="0" err="1"/>
              <a:t>Pytorch</a:t>
            </a:r>
            <a:r>
              <a:rPr lang="en-US" altLang="zh-CN" sz="2000" dirty="0"/>
              <a:t> </a:t>
            </a:r>
            <a:r>
              <a:rPr lang="zh-CN" altLang="en-US" sz="2000" dirty="0"/>
              <a:t>安装</a:t>
            </a:r>
            <a:r>
              <a:rPr lang="en-US" altLang="zh-CN" sz="2000" dirty="0"/>
              <a:t>—</a:t>
            </a:r>
            <a:r>
              <a:rPr lang="zh-CN" altLang="en-US" sz="2000" dirty="0"/>
              <a:t>利用</a:t>
            </a:r>
            <a:r>
              <a:rPr lang="en-US" altLang="zh-CN" sz="2000" dirty="0"/>
              <a:t>Anaconda</a:t>
            </a:r>
            <a:r>
              <a:rPr lang="zh-CN" altLang="en-US" sz="2000" dirty="0"/>
              <a:t>安装</a:t>
            </a:r>
          </a:p>
        </p:txBody>
      </p:sp>
    </p:spTree>
    <p:extLst>
      <p:ext uri="{BB962C8B-B14F-4D97-AF65-F5344CB8AC3E}">
        <p14:creationId xmlns:p14="http://schemas.microsoft.com/office/powerpoint/2010/main" val="1975486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5541DE8-CD82-4FBE-852A-4965447480A5}"/>
              </a:ext>
            </a:extLst>
          </p:cNvPr>
          <p:cNvSpPr/>
          <p:nvPr/>
        </p:nvSpPr>
        <p:spPr>
          <a:xfrm>
            <a:off x="486099" y="1291425"/>
            <a:ext cx="11118526" cy="2181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400" dirty="0">
                <a:latin typeface="+mn-ea"/>
              </a:rPr>
              <a:t>Q:</a:t>
            </a:r>
            <a:r>
              <a:rPr lang="zh-CN" altLang="en-US" sz="1400" dirty="0">
                <a:latin typeface="+mn-ea"/>
              </a:rPr>
              <a:t> 为什么还要安装</a:t>
            </a:r>
            <a:r>
              <a:rPr lang="en-US" altLang="zh-CN" sz="1400" dirty="0" err="1">
                <a:latin typeface="+mn-ea"/>
              </a:rPr>
              <a:t>torchivision</a:t>
            </a:r>
            <a:r>
              <a:rPr lang="zh-CN" altLang="en-US" sz="1400" dirty="0">
                <a:latin typeface="+mn-ea"/>
              </a:rPr>
              <a:t>？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+mn-ea"/>
              </a:rPr>
              <a:t>A: </a:t>
            </a:r>
            <a:r>
              <a:rPr lang="zh-CN" altLang="en-US" sz="1400" dirty="0">
                <a:latin typeface="+mn-ea"/>
              </a:rPr>
              <a:t>和</a:t>
            </a:r>
            <a:r>
              <a:rPr lang="en-US" altLang="zh-CN" sz="1400" dirty="0">
                <a:latin typeface="+mn-ea"/>
              </a:rPr>
              <a:t>torch</a:t>
            </a:r>
            <a:r>
              <a:rPr lang="zh-CN" altLang="en-US" sz="1400" dirty="0">
                <a:latin typeface="+mn-ea"/>
              </a:rPr>
              <a:t>搭配使用的</a:t>
            </a:r>
            <a:r>
              <a:rPr lang="en-US" altLang="zh-CN" sz="1400" dirty="0">
                <a:latin typeface="+mn-ea"/>
              </a:rPr>
              <a:t>python</a:t>
            </a:r>
            <a:r>
              <a:rPr lang="zh-CN" altLang="en-US" sz="1400" dirty="0">
                <a:latin typeface="+mn-ea"/>
              </a:rPr>
              <a:t>包，提供常用的：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+mn-ea"/>
              </a:rPr>
              <a:t>	</a:t>
            </a:r>
            <a:r>
              <a:rPr lang="zh-CN" altLang="en-US" sz="1400" dirty="0">
                <a:latin typeface="+mn-ea"/>
              </a:rPr>
              <a:t>网络及模型，</a:t>
            </a:r>
            <a:r>
              <a:rPr lang="en-US" altLang="zh-CN" sz="1400" dirty="0">
                <a:latin typeface="+mn-ea"/>
              </a:rPr>
              <a:t>e.g. Resnet</a:t>
            </a:r>
            <a:r>
              <a:rPr lang="zh-CN" altLang="en-US" sz="1400" dirty="0">
                <a:latin typeface="+mn-ea"/>
              </a:rPr>
              <a:t>，</a:t>
            </a:r>
            <a:r>
              <a:rPr lang="en-US" altLang="zh-CN" sz="1400" dirty="0" err="1">
                <a:latin typeface="+mn-ea"/>
              </a:rPr>
              <a:t>AlexNet</a:t>
            </a:r>
            <a:r>
              <a:rPr lang="zh-CN" altLang="en-US" sz="1400" dirty="0">
                <a:latin typeface="+mn-ea"/>
              </a:rPr>
              <a:t>，</a:t>
            </a:r>
            <a:r>
              <a:rPr lang="en-US" altLang="zh-CN" sz="1400" dirty="0" err="1">
                <a:latin typeface="+mn-ea"/>
              </a:rPr>
              <a:t>VGGNet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+mn-ea"/>
              </a:rPr>
              <a:t>	</a:t>
            </a:r>
            <a:r>
              <a:rPr lang="zh-CN" altLang="en-US" sz="1400" dirty="0">
                <a:latin typeface="+mn-ea"/>
              </a:rPr>
              <a:t>数据读取，</a:t>
            </a:r>
            <a:r>
              <a:rPr lang="en-US" altLang="zh-CN" sz="1400" dirty="0">
                <a:latin typeface="+mn-ea"/>
              </a:rPr>
              <a:t>e.g. </a:t>
            </a:r>
            <a:r>
              <a:rPr lang="zh-CN" altLang="en-US" sz="1400" dirty="0">
                <a:latin typeface="+mn-ea"/>
              </a:rPr>
              <a:t>图像分类</a:t>
            </a:r>
            <a:r>
              <a:rPr lang="en-US" altLang="zh-CN" sz="1400" dirty="0">
                <a:latin typeface="+mn-ea"/>
              </a:rPr>
              <a:t>(</a:t>
            </a:r>
            <a:r>
              <a:rPr lang="zh-CN" altLang="en-US" sz="1400" dirty="0">
                <a:latin typeface="+mn-ea"/>
              </a:rPr>
              <a:t>图片</a:t>
            </a:r>
            <a:r>
              <a:rPr lang="en-US" altLang="zh-CN" sz="1400" dirty="0">
                <a:latin typeface="+mn-ea"/>
              </a:rPr>
              <a:t>+label)</a:t>
            </a: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+mn-ea"/>
              </a:rPr>
              <a:t>	</a:t>
            </a:r>
            <a:r>
              <a:rPr lang="zh-CN" altLang="en-US" sz="1400" dirty="0">
                <a:latin typeface="+mn-ea"/>
              </a:rPr>
              <a:t>数据增广，</a:t>
            </a:r>
            <a:r>
              <a:rPr lang="en-US" altLang="zh-CN" sz="1400" dirty="0">
                <a:latin typeface="+mn-ea"/>
              </a:rPr>
              <a:t>e.g. resize, flip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279CADA-AB3A-402F-BD93-695471662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414" y="3524236"/>
            <a:ext cx="7355171" cy="3333764"/>
          </a:xfrm>
          <a:prstGeom prst="rect">
            <a:avLst/>
          </a:prstGeom>
        </p:spPr>
      </p:pic>
      <p:sp>
        <p:nvSpPr>
          <p:cNvPr id="5" name="标题 2">
            <a:extLst>
              <a:ext uri="{FF2B5EF4-FFF2-40B4-BE49-F238E27FC236}">
                <a16:creationId xmlns:a16="http://schemas.microsoft.com/office/drawing/2014/main" id="{2D4B9797-9666-41AD-A879-7B10ACB6D686}"/>
              </a:ext>
            </a:extLst>
          </p:cNvPr>
          <p:cNvSpPr txBox="1">
            <a:spLocks/>
          </p:cNvSpPr>
          <p:nvPr/>
        </p:nvSpPr>
        <p:spPr>
          <a:xfrm>
            <a:off x="486098" y="359153"/>
            <a:ext cx="5609901" cy="585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000" dirty="0" err="1"/>
              <a:t>Pytorch</a:t>
            </a:r>
            <a:r>
              <a:rPr lang="en-US" altLang="zh-CN" sz="2000" dirty="0"/>
              <a:t> </a:t>
            </a:r>
            <a:r>
              <a:rPr lang="zh-CN" altLang="en-US" sz="2000" dirty="0"/>
              <a:t>安装</a:t>
            </a:r>
            <a:r>
              <a:rPr lang="en-US" altLang="zh-CN" sz="2000" dirty="0"/>
              <a:t>—</a:t>
            </a:r>
            <a:r>
              <a:rPr lang="zh-CN" altLang="en-US" sz="2000" dirty="0"/>
              <a:t>利用</a:t>
            </a:r>
            <a:r>
              <a:rPr lang="en-US" altLang="zh-CN" sz="2000" dirty="0"/>
              <a:t>Anaconda</a:t>
            </a:r>
            <a:r>
              <a:rPr lang="zh-CN" altLang="en-US" sz="2000" dirty="0"/>
              <a:t>安装</a:t>
            </a:r>
          </a:p>
        </p:txBody>
      </p:sp>
    </p:spTree>
    <p:extLst>
      <p:ext uri="{BB962C8B-B14F-4D97-AF65-F5344CB8AC3E}">
        <p14:creationId xmlns:p14="http://schemas.microsoft.com/office/powerpoint/2010/main" val="3218463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F36AA8D-C796-427D-9118-947AEA19A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099" y="1320161"/>
            <a:ext cx="10779484" cy="4819167"/>
          </a:xfrm>
        </p:spPr>
        <p:txBody>
          <a:bodyPr/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zh-CN" altLang="en-US" sz="18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深度学习框架</a:t>
            </a:r>
            <a:r>
              <a:rPr lang="en-US" altLang="zh-CN" sz="1800" b="1" dirty="0" err="1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Pytorch</a:t>
            </a:r>
            <a:r>
              <a:rPr lang="zh-CN" altLang="en-US" sz="18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简介</a:t>
            </a:r>
            <a:endParaRPr lang="en-US" altLang="zh-CN" sz="1800" b="1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en-US" altLang="zh-CN" sz="1800" b="1" dirty="0" err="1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Pytorch</a:t>
            </a:r>
            <a:r>
              <a:rPr lang="zh-CN" altLang="en-US" sz="18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安装</a:t>
            </a:r>
            <a:endParaRPr lang="en-US" altLang="zh-CN" sz="1800" b="1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en-US" altLang="zh-CN" sz="1800" b="1" dirty="0" err="1">
                <a:solidFill>
                  <a:prstClr val="black"/>
                </a:solidFill>
                <a:latin typeface="+mn-ea"/>
                <a:ea typeface="+mn-ea"/>
              </a:rPr>
              <a:t>Pytorch</a:t>
            </a:r>
            <a:r>
              <a:rPr lang="zh-CN" altLang="en-US" sz="1800" b="1" dirty="0">
                <a:solidFill>
                  <a:prstClr val="black"/>
                </a:solidFill>
                <a:latin typeface="+mn-ea"/>
                <a:ea typeface="+mn-ea"/>
              </a:rPr>
              <a:t>的基本组成元素</a:t>
            </a:r>
            <a:endParaRPr lang="en-US" altLang="zh-CN" sz="1800" b="1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en-US" altLang="zh-CN" sz="1800" b="1" dirty="0" err="1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Pytorch</a:t>
            </a:r>
            <a:r>
              <a:rPr lang="zh-CN" altLang="en-US" sz="18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构建神经网络</a:t>
            </a:r>
            <a:endParaRPr lang="en-US" altLang="zh-CN" sz="1800" b="1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None/>
            </a:pPr>
            <a:endParaRPr lang="zh-CN" altLang="en-US" dirty="0"/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E8D6DE1C-2A02-4ED8-8BC7-3E2BBEB42299}"/>
              </a:ext>
            </a:extLst>
          </p:cNvPr>
          <p:cNvSpPr txBox="1">
            <a:spLocks/>
          </p:cNvSpPr>
          <p:nvPr/>
        </p:nvSpPr>
        <p:spPr>
          <a:xfrm>
            <a:off x="487225" y="486888"/>
            <a:ext cx="2367164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000"/>
              <a:t>课程内容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9368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DC9DEC0-29A1-425D-A7D8-9F479F687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225" y="1389810"/>
            <a:ext cx="11117400" cy="2225114"/>
          </a:xfrm>
        </p:spPr>
        <p:txBody>
          <a:bodyPr>
            <a:normAutofit/>
          </a:bodyPr>
          <a:lstStyle/>
          <a:p>
            <a:pPr marL="241300" marR="2122805" indent="-457200">
              <a:lnSpc>
                <a:spcPct val="135400"/>
              </a:lnSpc>
              <a:spcBef>
                <a:spcPts val="100"/>
              </a:spcBef>
              <a:buFont typeface="Wingdings" panose="05000000000000000000" pitchFamily="2" charset="2"/>
              <a:buChar char="p"/>
            </a:pPr>
            <a:r>
              <a:rPr lang="en-US" altLang="zh-CN" sz="1400" b="1" spc="-5" dirty="0">
                <a:latin typeface="+mn-ea"/>
                <a:ea typeface="+mn-ea"/>
                <a:cs typeface="Arial"/>
              </a:rPr>
              <a:t>Tensor</a:t>
            </a:r>
            <a:r>
              <a:rPr lang="en-US" altLang="zh-CN" sz="1400" spc="-5" dirty="0">
                <a:latin typeface="+mn-ea"/>
                <a:ea typeface="+mn-ea"/>
                <a:cs typeface="Arial"/>
              </a:rPr>
              <a:t>:  </a:t>
            </a:r>
            <a:r>
              <a:rPr lang="zh-CN" altLang="en-US" sz="1400" spc="-5" dirty="0">
                <a:latin typeface="+mn-ea"/>
                <a:ea typeface="+mn-ea"/>
                <a:cs typeface="Arial"/>
              </a:rPr>
              <a:t>基本数据单元，多维数组</a:t>
            </a:r>
            <a:endParaRPr lang="en-US" altLang="zh-CN" sz="1400" spc="-5" dirty="0">
              <a:latin typeface="+mn-ea"/>
              <a:ea typeface="+mn-ea"/>
              <a:cs typeface="Arial"/>
            </a:endParaRPr>
          </a:p>
          <a:p>
            <a:pPr marL="241300" marR="2122805" indent="-457200">
              <a:lnSpc>
                <a:spcPct val="135400"/>
              </a:lnSpc>
              <a:spcBef>
                <a:spcPts val="100"/>
              </a:spcBef>
              <a:buFont typeface="Wingdings" panose="05000000000000000000" pitchFamily="2" charset="2"/>
              <a:buChar char="p"/>
            </a:pPr>
            <a:r>
              <a:rPr lang="en-US" altLang="zh-CN" sz="1400" b="1" spc="-5" dirty="0">
                <a:latin typeface="+mn-ea"/>
                <a:ea typeface="+mn-ea"/>
                <a:cs typeface="Arial"/>
              </a:rPr>
              <a:t>Variable</a:t>
            </a:r>
            <a:r>
              <a:rPr lang="zh-CN" altLang="en-US" sz="1400" spc="-5" dirty="0">
                <a:latin typeface="+mn-ea"/>
                <a:ea typeface="+mn-ea"/>
                <a:cs typeface="Arial"/>
              </a:rPr>
              <a:t>：等同于带有梯度的</a:t>
            </a:r>
            <a:r>
              <a:rPr lang="en-US" altLang="zh-CN" sz="1400" spc="-5" dirty="0">
                <a:latin typeface="+mn-ea"/>
                <a:ea typeface="+mn-ea"/>
                <a:cs typeface="Arial"/>
              </a:rPr>
              <a:t>Tensor</a:t>
            </a:r>
          </a:p>
          <a:p>
            <a:pPr marL="241300" marR="2122805" indent="-457200">
              <a:lnSpc>
                <a:spcPct val="135400"/>
              </a:lnSpc>
              <a:spcBef>
                <a:spcPts val="100"/>
              </a:spcBef>
              <a:buFont typeface="Wingdings" panose="05000000000000000000" pitchFamily="2" charset="2"/>
              <a:buChar char="p"/>
            </a:pPr>
            <a:r>
              <a:rPr lang="en-US" altLang="zh-CN" sz="1400" b="1" spc="-5" dirty="0" err="1">
                <a:latin typeface="+mn-ea"/>
                <a:ea typeface="+mn-ea"/>
                <a:cs typeface="Arial"/>
              </a:rPr>
              <a:t>nn</a:t>
            </a:r>
            <a:r>
              <a:rPr lang="en-US" altLang="zh-CN" sz="1400" spc="-5" dirty="0">
                <a:latin typeface="+mn-ea"/>
                <a:ea typeface="+mn-ea"/>
                <a:cs typeface="Arial"/>
              </a:rPr>
              <a:t>: </a:t>
            </a:r>
            <a:r>
              <a:rPr lang="zh-CN" altLang="en-US" sz="1400" spc="-5" dirty="0">
                <a:latin typeface="+mn-ea"/>
                <a:ea typeface="+mn-ea"/>
                <a:cs typeface="Arial"/>
              </a:rPr>
              <a:t>卷积、池化、激活函数等层的实现</a:t>
            </a:r>
            <a:endParaRPr lang="en-US" altLang="zh-CN" sz="1400" spc="-5" dirty="0">
              <a:latin typeface="+mn-ea"/>
              <a:ea typeface="+mn-ea"/>
              <a:cs typeface="Arial"/>
            </a:endParaRPr>
          </a:p>
          <a:p>
            <a:pPr marL="241300" indent="-457200">
              <a:lnSpc>
                <a:spcPct val="100000"/>
              </a:lnSpc>
              <a:spcBef>
                <a:spcPts val="765"/>
              </a:spcBef>
              <a:buFont typeface="Wingdings" panose="05000000000000000000" pitchFamily="2" charset="2"/>
              <a:buChar char="p"/>
            </a:pPr>
            <a:r>
              <a:rPr lang="en-US" altLang="zh-CN" sz="1400" b="1" dirty="0">
                <a:latin typeface="+mn-ea"/>
                <a:ea typeface="+mn-ea"/>
                <a:cs typeface="Arial"/>
              </a:rPr>
              <a:t>Module</a:t>
            </a:r>
            <a:r>
              <a:rPr lang="en-US" altLang="zh-CN" sz="1400" dirty="0">
                <a:latin typeface="+mn-ea"/>
                <a:ea typeface="+mn-ea"/>
                <a:cs typeface="Arial"/>
              </a:rPr>
              <a:t>:  </a:t>
            </a:r>
            <a:r>
              <a:rPr lang="zh-CN" altLang="en-US" sz="1400" dirty="0">
                <a:latin typeface="+mn-ea"/>
                <a:ea typeface="+mn-ea"/>
                <a:cs typeface="Arial"/>
              </a:rPr>
              <a:t>网络结构，包含一系列</a:t>
            </a:r>
            <a:r>
              <a:rPr lang="en-US" altLang="zh-CN" sz="1400" dirty="0">
                <a:latin typeface="+mn-ea"/>
                <a:ea typeface="+mn-ea"/>
                <a:cs typeface="Arial"/>
              </a:rPr>
              <a:t>Tensor</a:t>
            </a:r>
            <a:r>
              <a:rPr lang="zh-CN" altLang="en-US" sz="1400" dirty="0">
                <a:latin typeface="+mn-ea"/>
                <a:ea typeface="+mn-ea"/>
                <a:cs typeface="Arial"/>
              </a:rPr>
              <a:t>和</a:t>
            </a:r>
            <a:r>
              <a:rPr lang="en-US" altLang="zh-CN" sz="1400" dirty="0" err="1">
                <a:latin typeface="+mn-ea"/>
                <a:ea typeface="+mn-ea"/>
                <a:cs typeface="Arial"/>
              </a:rPr>
              <a:t>nn</a:t>
            </a:r>
            <a:r>
              <a:rPr lang="zh-CN" altLang="en-US" sz="1400" dirty="0">
                <a:latin typeface="+mn-ea"/>
                <a:ea typeface="+mn-ea"/>
                <a:cs typeface="Arial"/>
              </a:rPr>
              <a:t>的计算过程</a:t>
            </a:r>
            <a:endParaRPr lang="en-US" altLang="zh-CN" sz="1400" dirty="0">
              <a:latin typeface="+mn-ea"/>
              <a:ea typeface="+mn-ea"/>
              <a:cs typeface="Arial"/>
            </a:endParaRPr>
          </a:p>
          <a:p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E9A9AE3-F50E-4FD3-8284-4C4F9AFB9E5D}"/>
              </a:ext>
            </a:extLst>
          </p:cNvPr>
          <p:cNvGrpSpPr/>
          <p:nvPr/>
        </p:nvGrpSpPr>
        <p:grpSpPr>
          <a:xfrm>
            <a:off x="603584" y="4179348"/>
            <a:ext cx="3404937" cy="2153653"/>
            <a:chOff x="1119661" y="2815386"/>
            <a:chExt cx="3404937" cy="2153653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C30A24A-9778-4DEA-9611-24EFDCC5F912}"/>
                </a:ext>
              </a:extLst>
            </p:cNvPr>
            <p:cNvSpPr txBox="1"/>
            <p:nvPr/>
          </p:nvSpPr>
          <p:spPr>
            <a:xfrm>
              <a:off x="1648326" y="3175954"/>
              <a:ext cx="974558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/>
                <a:t>data</a:t>
              </a:r>
              <a:endParaRPr lang="zh-CN" altLang="en-US" sz="28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B526805-3C8D-4089-9B25-63591E3946BB}"/>
                </a:ext>
              </a:extLst>
            </p:cNvPr>
            <p:cNvSpPr txBox="1"/>
            <p:nvPr/>
          </p:nvSpPr>
          <p:spPr>
            <a:xfrm>
              <a:off x="3227640" y="3175954"/>
              <a:ext cx="974558" cy="52322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75000"/>
                    </a:schemeClr>
                  </a:solidFill>
                </a:rPr>
                <a:t>grad</a:t>
              </a:r>
              <a:endParaRPr lang="zh-CN" altLang="en-US" sz="28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F539FC9-36C6-4B8C-8DA3-94DCEAF18194}"/>
                </a:ext>
              </a:extLst>
            </p:cNvPr>
            <p:cNvSpPr txBox="1"/>
            <p:nvPr/>
          </p:nvSpPr>
          <p:spPr>
            <a:xfrm>
              <a:off x="2249906" y="4042192"/>
              <a:ext cx="1319463" cy="52322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75000"/>
                    </a:schemeClr>
                  </a:solidFill>
                </a:rPr>
                <a:t>creator</a:t>
              </a:r>
              <a:endParaRPr lang="zh-CN" altLang="en-US" sz="28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93CDA99-630B-4C74-88ED-0910E31BF541}"/>
                </a:ext>
              </a:extLst>
            </p:cNvPr>
            <p:cNvSpPr/>
            <p:nvPr/>
          </p:nvSpPr>
          <p:spPr>
            <a:xfrm>
              <a:off x="1119661" y="2815386"/>
              <a:ext cx="3404937" cy="215365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937EFA3-EECC-4A5C-ADD7-B31408D90D55}"/>
              </a:ext>
            </a:extLst>
          </p:cNvPr>
          <p:cNvGrpSpPr/>
          <p:nvPr/>
        </p:nvGrpSpPr>
        <p:grpSpPr>
          <a:xfrm>
            <a:off x="4393531" y="4179348"/>
            <a:ext cx="3404937" cy="2153653"/>
            <a:chOff x="1263316" y="2815389"/>
            <a:chExt cx="3404937" cy="2153653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158277F-3E20-47AF-8EF6-12924274A9D4}"/>
                </a:ext>
              </a:extLst>
            </p:cNvPr>
            <p:cNvSpPr txBox="1"/>
            <p:nvPr/>
          </p:nvSpPr>
          <p:spPr>
            <a:xfrm>
              <a:off x="1648326" y="3175954"/>
              <a:ext cx="974558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/>
                <a:t>data</a:t>
              </a:r>
              <a:endParaRPr lang="zh-CN" altLang="en-US" sz="28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5DB9393-B4DE-4A16-9658-44FC9F357657}"/>
                </a:ext>
              </a:extLst>
            </p:cNvPr>
            <p:cNvSpPr txBox="1"/>
            <p:nvPr/>
          </p:nvSpPr>
          <p:spPr>
            <a:xfrm>
              <a:off x="3227640" y="3175954"/>
              <a:ext cx="974558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/>
                <a:t>grad</a:t>
              </a:r>
              <a:endParaRPr lang="zh-CN" altLang="en-US" sz="2800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13293CC-ABBE-4920-90A1-95369457B8A5}"/>
                </a:ext>
              </a:extLst>
            </p:cNvPr>
            <p:cNvSpPr txBox="1"/>
            <p:nvPr/>
          </p:nvSpPr>
          <p:spPr>
            <a:xfrm>
              <a:off x="2249906" y="4042192"/>
              <a:ext cx="1319463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/>
                <a:t>creator</a:t>
              </a:r>
              <a:endParaRPr lang="zh-CN" altLang="en-US" sz="2800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E6F8C8BD-92CF-43C7-A63F-2317C4F61AA2}"/>
                </a:ext>
              </a:extLst>
            </p:cNvPr>
            <p:cNvSpPr/>
            <p:nvPr/>
          </p:nvSpPr>
          <p:spPr>
            <a:xfrm>
              <a:off x="1263316" y="2815389"/>
              <a:ext cx="3404937" cy="215365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2111FFC-AEC0-4571-B956-C53048CC48C8}"/>
              </a:ext>
            </a:extLst>
          </p:cNvPr>
          <p:cNvGrpSpPr/>
          <p:nvPr/>
        </p:nvGrpSpPr>
        <p:grpSpPr>
          <a:xfrm>
            <a:off x="8183478" y="4179348"/>
            <a:ext cx="3369808" cy="2153653"/>
            <a:chOff x="8563156" y="4157755"/>
            <a:chExt cx="3369808" cy="2153653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7091FC02-6E05-4DC9-A5F0-99C4124CEA29}"/>
                </a:ext>
              </a:extLst>
            </p:cNvPr>
            <p:cNvGrpSpPr/>
            <p:nvPr/>
          </p:nvGrpSpPr>
          <p:grpSpPr>
            <a:xfrm>
              <a:off x="8654546" y="4244676"/>
              <a:ext cx="1374672" cy="796865"/>
              <a:chOff x="1263316" y="2815389"/>
              <a:chExt cx="3404937" cy="2153653"/>
            </a:xfrm>
          </p:grpSpPr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000099B-920D-42B8-8CDE-508A1ED409C7}"/>
                  </a:ext>
                </a:extLst>
              </p:cNvPr>
              <p:cNvSpPr txBox="1"/>
              <p:nvPr/>
            </p:nvSpPr>
            <p:spPr>
              <a:xfrm>
                <a:off x="1648327" y="3175953"/>
                <a:ext cx="974557" cy="5822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dirty="0"/>
                  <a:t>data</a:t>
                </a:r>
                <a:endParaRPr lang="zh-CN" altLang="en-US" sz="800" dirty="0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BCC3597-0460-48DE-85E6-BF9253783B5B}"/>
                  </a:ext>
                </a:extLst>
              </p:cNvPr>
              <p:cNvSpPr txBox="1"/>
              <p:nvPr/>
            </p:nvSpPr>
            <p:spPr>
              <a:xfrm>
                <a:off x="3227641" y="3175953"/>
                <a:ext cx="974557" cy="5822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dirty="0"/>
                  <a:t>grad</a:t>
                </a:r>
                <a:endParaRPr lang="zh-CN" altLang="en-US" sz="800" dirty="0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D7A8E8A-4249-4F17-BE48-7228F7E1A7B3}"/>
                  </a:ext>
                </a:extLst>
              </p:cNvPr>
              <p:cNvSpPr txBox="1"/>
              <p:nvPr/>
            </p:nvSpPr>
            <p:spPr>
              <a:xfrm>
                <a:off x="2249906" y="4042193"/>
                <a:ext cx="1319464" cy="5822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dirty="0"/>
                  <a:t>creator</a:t>
                </a:r>
                <a:endParaRPr lang="zh-CN" altLang="en-US" sz="800" dirty="0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92796FC-C4DC-4430-8FDF-7C1357E2CA17}"/>
                  </a:ext>
                </a:extLst>
              </p:cNvPr>
              <p:cNvSpPr/>
              <p:nvPr/>
            </p:nvSpPr>
            <p:spPr>
              <a:xfrm>
                <a:off x="1263316" y="2815389"/>
                <a:ext cx="3404937" cy="21536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/>
              </a:p>
            </p:txBody>
          </p:sp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96E8E29-98D9-4ED3-89E1-5F363EAA453B}"/>
                </a:ext>
              </a:extLst>
            </p:cNvPr>
            <p:cNvSpPr/>
            <p:nvPr/>
          </p:nvSpPr>
          <p:spPr>
            <a:xfrm>
              <a:off x="8563156" y="4157755"/>
              <a:ext cx="3369808" cy="215365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C183170E-69B7-4CFB-9E42-74436FF45D28}"/>
                </a:ext>
              </a:extLst>
            </p:cNvPr>
            <p:cNvGrpSpPr/>
            <p:nvPr/>
          </p:nvGrpSpPr>
          <p:grpSpPr>
            <a:xfrm>
              <a:off x="10441193" y="5384559"/>
              <a:ext cx="1374672" cy="796865"/>
              <a:chOff x="1263316" y="2815389"/>
              <a:chExt cx="3404937" cy="2153653"/>
            </a:xfrm>
          </p:grpSpPr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A5CED02-69EB-46BC-91BB-8134A371213F}"/>
                  </a:ext>
                </a:extLst>
              </p:cNvPr>
              <p:cNvSpPr txBox="1"/>
              <p:nvPr/>
            </p:nvSpPr>
            <p:spPr>
              <a:xfrm>
                <a:off x="1648327" y="3175953"/>
                <a:ext cx="974557" cy="5822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dirty="0"/>
                  <a:t>data</a:t>
                </a:r>
                <a:endParaRPr lang="zh-CN" altLang="en-US" sz="800" dirty="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DEC04A5-BCC8-44AF-8891-3B01D1A2D050}"/>
                  </a:ext>
                </a:extLst>
              </p:cNvPr>
              <p:cNvSpPr txBox="1"/>
              <p:nvPr/>
            </p:nvSpPr>
            <p:spPr>
              <a:xfrm>
                <a:off x="3227641" y="3175953"/>
                <a:ext cx="974557" cy="5822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dirty="0"/>
                  <a:t>grad</a:t>
                </a:r>
                <a:endParaRPr lang="zh-CN" altLang="en-US" sz="800" dirty="0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5530FE7-D41D-4ABF-B42A-9CB1A9CB9B3F}"/>
                  </a:ext>
                </a:extLst>
              </p:cNvPr>
              <p:cNvSpPr txBox="1"/>
              <p:nvPr/>
            </p:nvSpPr>
            <p:spPr>
              <a:xfrm>
                <a:off x="2249906" y="4042193"/>
                <a:ext cx="1319464" cy="5822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dirty="0"/>
                  <a:t>creator</a:t>
                </a:r>
                <a:endParaRPr lang="zh-CN" altLang="en-US" sz="800" dirty="0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6BE928E6-5277-48E9-8636-49137A6FEC7C}"/>
                  </a:ext>
                </a:extLst>
              </p:cNvPr>
              <p:cNvSpPr/>
              <p:nvPr/>
            </p:nvSpPr>
            <p:spPr>
              <a:xfrm>
                <a:off x="1263316" y="2815389"/>
                <a:ext cx="3404937" cy="21536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/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97F1491-8497-4AE2-83B8-B5701B8D573D}"/>
                </a:ext>
              </a:extLst>
            </p:cNvPr>
            <p:cNvSpPr txBox="1"/>
            <p:nvPr/>
          </p:nvSpPr>
          <p:spPr>
            <a:xfrm>
              <a:off x="10584612" y="4179348"/>
              <a:ext cx="1031072" cy="921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4000" b="1" dirty="0"/>
                <a:t>…</a:t>
              </a:r>
              <a:endParaRPr lang="zh-CN" altLang="en-US" sz="4000" b="1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2E4ED76-7D26-4937-9D52-334F44D31D78}"/>
                </a:ext>
              </a:extLst>
            </p:cNvPr>
            <p:cNvSpPr txBox="1"/>
            <p:nvPr/>
          </p:nvSpPr>
          <p:spPr>
            <a:xfrm>
              <a:off x="8994201" y="5270397"/>
              <a:ext cx="1031072" cy="921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4000" b="1" dirty="0"/>
                <a:t>…</a:t>
              </a:r>
              <a:endParaRPr lang="zh-CN" altLang="en-US" sz="4000" b="1" dirty="0"/>
            </a:p>
          </p:txBody>
        </p:sp>
      </p:grpSp>
      <p:sp>
        <p:nvSpPr>
          <p:cNvPr id="29" name="标题 2">
            <a:extLst>
              <a:ext uri="{FF2B5EF4-FFF2-40B4-BE49-F238E27FC236}">
                <a16:creationId xmlns:a16="http://schemas.microsoft.com/office/drawing/2014/main" id="{21940518-D4E8-4B0B-A5DB-C67635337FA4}"/>
              </a:ext>
            </a:extLst>
          </p:cNvPr>
          <p:cNvSpPr txBox="1">
            <a:spLocks/>
          </p:cNvSpPr>
          <p:nvPr/>
        </p:nvSpPr>
        <p:spPr>
          <a:xfrm>
            <a:off x="487225" y="486888"/>
            <a:ext cx="2367164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000" spc="-10" dirty="0" err="1"/>
              <a:t>PyTorch</a:t>
            </a:r>
            <a:r>
              <a:rPr lang="en-US" altLang="zh-CN" sz="2000" spc="-10" dirty="0"/>
              <a:t> </a:t>
            </a:r>
            <a:r>
              <a:rPr lang="zh-CN" altLang="en-US" sz="2000" spc="-10" dirty="0"/>
              <a:t>四层抽象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29372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DC9DEC0-29A1-425D-A7D8-9F479F687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812" y="1272930"/>
            <a:ext cx="11075437" cy="2225114"/>
          </a:xfrm>
        </p:spPr>
        <p:txBody>
          <a:bodyPr>
            <a:normAutofit/>
          </a:bodyPr>
          <a:lstStyle/>
          <a:p>
            <a:pPr marL="0" marR="2122805" indent="0">
              <a:lnSpc>
                <a:spcPct val="200000"/>
              </a:lnSpc>
              <a:spcBef>
                <a:spcPts val="100"/>
              </a:spcBef>
              <a:buNone/>
            </a:pPr>
            <a:r>
              <a:rPr lang="en-US" altLang="zh-CN" sz="1400" spc="-5" dirty="0" err="1">
                <a:latin typeface="+mn-ea"/>
                <a:ea typeface="+mn-ea"/>
                <a:cs typeface="Arial"/>
              </a:rPr>
              <a:t>Pytorch</a:t>
            </a:r>
            <a:r>
              <a:rPr lang="en-US" altLang="zh-CN" sz="1400" spc="-5" dirty="0">
                <a:latin typeface="+mn-ea"/>
                <a:ea typeface="+mn-ea"/>
                <a:cs typeface="Arial"/>
              </a:rPr>
              <a:t> &gt; = 0.4</a:t>
            </a:r>
            <a:r>
              <a:rPr lang="zh-CN" altLang="en-US" sz="1400" spc="-5" dirty="0">
                <a:latin typeface="+mn-ea"/>
                <a:ea typeface="+mn-ea"/>
                <a:cs typeface="Arial"/>
              </a:rPr>
              <a:t>版本中，将</a:t>
            </a:r>
            <a:r>
              <a:rPr lang="en-US" altLang="zh-CN" sz="1400" spc="-5" dirty="0">
                <a:latin typeface="+mn-ea"/>
                <a:ea typeface="+mn-ea"/>
                <a:cs typeface="Arial"/>
              </a:rPr>
              <a:t>Variable</a:t>
            </a:r>
            <a:r>
              <a:rPr lang="zh-CN" altLang="en-US" sz="1400" spc="-5" dirty="0">
                <a:latin typeface="+mn-ea"/>
                <a:ea typeface="+mn-ea"/>
                <a:cs typeface="Arial"/>
              </a:rPr>
              <a:t>与</a:t>
            </a:r>
            <a:r>
              <a:rPr lang="en-US" altLang="zh-CN" sz="1400" spc="-5" dirty="0">
                <a:latin typeface="+mn-ea"/>
                <a:ea typeface="+mn-ea"/>
                <a:cs typeface="Arial"/>
              </a:rPr>
              <a:t>Tensor</a:t>
            </a:r>
            <a:r>
              <a:rPr lang="zh-CN" altLang="en-US" sz="1400" spc="-5" dirty="0">
                <a:latin typeface="+mn-ea"/>
                <a:ea typeface="+mn-ea"/>
                <a:cs typeface="Arial"/>
              </a:rPr>
              <a:t>合并</a:t>
            </a:r>
            <a:endParaRPr lang="en-US" altLang="zh-CN" sz="1400" dirty="0">
              <a:latin typeface="+mn-ea"/>
              <a:ea typeface="+mn-ea"/>
              <a:cs typeface="Arial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1400" dirty="0">
                <a:latin typeface="+mn-ea"/>
                <a:ea typeface="+mn-ea"/>
              </a:rPr>
              <a:t>Tensor</a:t>
            </a:r>
            <a:r>
              <a:rPr lang="zh-CN" altLang="en-US" sz="1400" dirty="0">
                <a:latin typeface="+mn-ea"/>
                <a:ea typeface="+mn-ea"/>
              </a:rPr>
              <a:t>：</a:t>
            </a:r>
            <a:r>
              <a:rPr lang="en-US" altLang="zh-CN" sz="1400" dirty="0">
                <a:latin typeface="+mn-ea"/>
                <a:ea typeface="+mn-ea"/>
              </a:rPr>
              <a:t>x = </a:t>
            </a:r>
            <a:r>
              <a:rPr lang="en-US" altLang="zh-CN" sz="1400" dirty="0" err="1">
                <a:latin typeface="+mn-ea"/>
                <a:ea typeface="+mn-ea"/>
              </a:rPr>
              <a:t>torch.ones</a:t>
            </a:r>
            <a:r>
              <a:rPr lang="en-US" altLang="zh-CN" sz="1400" dirty="0">
                <a:latin typeface="+mn-ea"/>
                <a:ea typeface="+mn-ea"/>
              </a:rPr>
              <a:t>(2, 2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, </a:t>
            </a:r>
            <a:r>
              <a:rPr lang="en-US" altLang="zh-CN" sz="1400" dirty="0" err="1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requires_grad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=False</a:t>
            </a:r>
            <a:r>
              <a:rPr lang="en-US" altLang="zh-CN" sz="1400" dirty="0">
                <a:latin typeface="+mn-ea"/>
                <a:ea typeface="+mn-ea"/>
              </a:rPr>
              <a:t>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1400" dirty="0">
                <a:latin typeface="+mn-ea"/>
                <a:ea typeface="+mn-ea"/>
              </a:rPr>
              <a:t>Variable</a:t>
            </a:r>
            <a:r>
              <a:rPr lang="zh-CN" altLang="en-US" sz="1400" dirty="0">
                <a:latin typeface="+mn-ea"/>
                <a:ea typeface="+mn-ea"/>
              </a:rPr>
              <a:t>：</a:t>
            </a:r>
            <a:r>
              <a:rPr lang="en-US" altLang="zh-CN" sz="1400" dirty="0">
                <a:latin typeface="+mn-ea"/>
                <a:ea typeface="+mn-ea"/>
              </a:rPr>
              <a:t>x = </a:t>
            </a:r>
            <a:r>
              <a:rPr lang="en-US" altLang="zh-CN" sz="1400" dirty="0" err="1">
                <a:latin typeface="+mn-ea"/>
                <a:ea typeface="+mn-ea"/>
              </a:rPr>
              <a:t>torch.ones</a:t>
            </a:r>
            <a:r>
              <a:rPr lang="en-US" altLang="zh-CN" sz="1400" dirty="0">
                <a:latin typeface="+mn-ea"/>
                <a:ea typeface="+mn-ea"/>
              </a:rPr>
              <a:t>(2, 2, </a:t>
            </a:r>
            <a:r>
              <a:rPr lang="en-US" altLang="zh-CN" sz="1400" dirty="0" err="1">
                <a:latin typeface="+mn-ea"/>
                <a:ea typeface="+mn-ea"/>
              </a:rPr>
              <a:t>requires_grad</a:t>
            </a:r>
            <a:r>
              <a:rPr lang="en-US" altLang="zh-CN" sz="1400" dirty="0">
                <a:latin typeface="+mn-ea"/>
                <a:ea typeface="+mn-ea"/>
              </a:rPr>
              <a:t>=True)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B159EE7-B4C2-4BB4-950D-F9EDD1600F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236"/>
          <a:stretch/>
        </p:blipFill>
        <p:spPr>
          <a:xfrm>
            <a:off x="7509984" y="2990296"/>
            <a:ext cx="2953345" cy="3352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642C76-31CA-4F2A-9BE0-24CB5063ECFF}"/>
              </a:ext>
            </a:extLst>
          </p:cNvPr>
          <p:cNvSpPr/>
          <p:nvPr/>
        </p:nvSpPr>
        <p:spPr>
          <a:xfrm>
            <a:off x="8033964" y="4130736"/>
            <a:ext cx="2473344" cy="6225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B69DD57-3387-413B-AB52-C4DF0C4C9494}"/>
              </a:ext>
            </a:extLst>
          </p:cNvPr>
          <p:cNvGrpSpPr/>
          <p:nvPr/>
        </p:nvGrpSpPr>
        <p:grpSpPr>
          <a:xfrm>
            <a:off x="798587" y="3554641"/>
            <a:ext cx="2593609" cy="1601017"/>
            <a:chOff x="1263316" y="2815389"/>
            <a:chExt cx="3404937" cy="2153653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05712D6-3DBC-486A-8CCD-20B339A38613}"/>
                </a:ext>
              </a:extLst>
            </p:cNvPr>
            <p:cNvSpPr txBox="1"/>
            <p:nvPr/>
          </p:nvSpPr>
          <p:spPr>
            <a:xfrm>
              <a:off x="1648326" y="3175955"/>
              <a:ext cx="974557" cy="5382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/>
                <a:t>data</a:t>
              </a:r>
              <a:endParaRPr lang="zh-CN" altLang="en-US" sz="20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CAC5120-4A0E-4243-873D-555899178994}"/>
                </a:ext>
              </a:extLst>
            </p:cNvPr>
            <p:cNvSpPr txBox="1"/>
            <p:nvPr/>
          </p:nvSpPr>
          <p:spPr>
            <a:xfrm>
              <a:off x="3227640" y="3175955"/>
              <a:ext cx="974557" cy="538219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bg1">
                      <a:lumMod val="75000"/>
                    </a:schemeClr>
                  </a:solidFill>
                </a:rPr>
                <a:t>grad</a:t>
              </a:r>
              <a:endParaRPr lang="zh-CN" altLang="en-US" sz="2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D3C998E-62F1-4148-94E6-D6CA6220BE67}"/>
                </a:ext>
              </a:extLst>
            </p:cNvPr>
            <p:cNvSpPr txBox="1"/>
            <p:nvPr/>
          </p:nvSpPr>
          <p:spPr>
            <a:xfrm>
              <a:off x="2249905" y="4042191"/>
              <a:ext cx="1319464" cy="538219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bg1">
                      <a:lumMod val="75000"/>
                    </a:schemeClr>
                  </a:solidFill>
                </a:rPr>
                <a:t>creator</a:t>
              </a:r>
              <a:endParaRPr lang="zh-CN" altLang="en-US" sz="2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9F6F96B-7688-492E-8231-F62367BBEC20}"/>
                </a:ext>
              </a:extLst>
            </p:cNvPr>
            <p:cNvSpPr/>
            <p:nvPr/>
          </p:nvSpPr>
          <p:spPr>
            <a:xfrm>
              <a:off x="1263316" y="2815389"/>
              <a:ext cx="3404937" cy="215365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3EE4344-D03F-4BB7-8F0F-9D812A0BFC56}"/>
              </a:ext>
            </a:extLst>
          </p:cNvPr>
          <p:cNvGrpSpPr/>
          <p:nvPr/>
        </p:nvGrpSpPr>
        <p:grpSpPr>
          <a:xfrm>
            <a:off x="4143701" y="3583074"/>
            <a:ext cx="2596366" cy="1601017"/>
            <a:chOff x="3035949" y="3681102"/>
            <a:chExt cx="2596366" cy="1601017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DED9740-EEE0-4DCE-B41E-5801CC3AF7C5}"/>
                </a:ext>
              </a:extLst>
            </p:cNvPr>
            <p:cNvSpPr txBox="1"/>
            <p:nvPr/>
          </p:nvSpPr>
          <p:spPr>
            <a:xfrm>
              <a:off x="3329531" y="3949145"/>
              <a:ext cx="743130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/>
                <a:t>data</a:t>
              </a:r>
              <a:endParaRPr lang="zh-CN" altLang="en-US" sz="20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5DA9208-04C1-498C-A4B7-A5CCD4C3555F}"/>
                </a:ext>
              </a:extLst>
            </p:cNvPr>
            <p:cNvSpPr txBox="1"/>
            <p:nvPr/>
          </p:nvSpPr>
          <p:spPr>
            <a:xfrm>
              <a:off x="4533805" y="3949145"/>
              <a:ext cx="743130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/>
                <a:t>grad</a:t>
              </a:r>
              <a:endParaRPr lang="zh-CN" altLang="en-US" sz="20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F0AD009C-3A8A-4FA2-9ECB-D0DED59A87C3}"/>
                </a:ext>
              </a:extLst>
            </p:cNvPr>
            <p:cNvSpPr txBox="1"/>
            <p:nvPr/>
          </p:nvSpPr>
          <p:spPr>
            <a:xfrm>
              <a:off x="3788253" y="4593102"/>
              <a:ext cx="100613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creator</a:t>
              </a:r>
              <a:endParaRPr lang="zh-CN" altLang="en-US" sz="2000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B3598A1-1DA3-4413-8706-4FC8EDF524BC}"/>
                </a:ext>
              </a:extLst>
            </p:cNvPr>
            <p:cNvSpPr/>
            <p:nvPr/>
          </p:nvSpPr>
          <p:spPr>
            <a:xfrm>
              <a:off x="3035949" y="3681102"/>
              <a:ext cx="2596366" cy="16010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005BBA0E-A491-4604-8DF3-10796BA95B07}"/>
              </a:ext>
            </a:extLst>
          </p:cNvPr>
          <p:cNvSpPr/>
          <p:nvPr/>
        </p:nvSpPr>
        <p:spPr>
          <a:xfrm>
            <a:off x="486099" y="5779755"/>
            <a:ext cx="56099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+mn-ea"/>
                <a:hlinkClick r:id="rId3"/>
              </a:rPr>
              <a:t>https://pytorch.org/docs/master/</a:t>
            </a:r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  <a:hlinkClick r:id="rId4"/>
              </a:rPr>
              <a:t>https://pytorch.org/tutorials/</a:t>
            </a:r>
            <a:endParaRPr lang="zh-CN" altLang="en-US" sz="1400" dirty="0">
              <a:latin typeface="+mn-ea"/>
            </a:endParaRPr>
          </a:p>
        </p:txBody>
      </p:sp>
      <p:sp>
        <p:nvSpPr>
          <p:cNvPr id="20" name="标题 2">
            <a:extLst>
              <a:ext uri="{FF2B5EF4-FFF2-40B4-BE49-F238E27FC236}">
                <a16:creationId xmlns:a16="http://schemas.microsoft.com/office/drawing/2014/main" id="{F443FD53-5BE9-467E-885C-715D074F6484}"/>
              </a:ext>
            </a:extLst>
          </p:cNvPr>
          <p:cNvSpPr txBox="1">
            <a:spLocks/>
          </p:cNvSpPr>
          <p:nvPr/>
        </p:nvSpPr>
        <p:spPr>
          <a:xfrm>
            <a:off x="487225" y="486888"/>
            <a:ext cx="2367164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000" spc="-10" dirty="0" err="1"/>
              <a:t>PyTorch</a:t>
            </a:r>
            <a:r>
              <a:rPr lang="en-US" altLang="zh-CN" sz="2000" spc="-10" dirty="0"/>
              <a:t> </a:t>
            </a:r>
            <a:r>
              <a:rPr lang="zh-CN" altLang="en-US" sz="2000" spc="-10" dirty="0"/>
              <a:t>三层抽象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98837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DC9DEC0-29A1-425D-A7D8-9F479F687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225" y="1406923"/>
            <a:ext cx="10771684" cy="4819167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400" dirty="0"/>
              <a:t>用于生成网络输入、输出、参数、中间变量等等</a:t>
            </a:r>
            <a:endParaRPr lang="en-US" altLang="zh-CN" sz="1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初始化：</a:t>
            </a:r>
            <a:endParaRPr lang="en-US" altLang="zh-CN" sz="1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400" dirty="0" err="1"/>
              <a:t>torch.tensor</a:t>
            </a:r>
            <a:r>
              <a:rPr lang="en-US" altLang="zh-CN" sz="1400" dirty="0"/>
              <a:t>((k*k*k…), </a:t>
            </a:r>
            <a:r>
              <a:rPr lang="en-US" altLang="zh-CN" sz="1400" dirty="0" err="1"/>
              <a:t>dtype</a:t>
            </a:r>
            <a:r>
              <a:rPr lang="en-US" altLang="zh-CN" sz="1400" dirty="0"/>
              <a:t>=</a:t>
            </a:r>
            <a:r>
              <a:rPr lang="en-US" altLang="zh-CN" sz="1400" dirty="0" err="1"/>
              <a:t>torch.float</a:t>
            </a:r>
            <a:r>
              <a:rPr lang="en-US" altLang="zh-CN" sz="1400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400" dirty="0" err="1"/>
              <a:t>torch.from_numpy</a:t>
            </a:r>
            <a:r>
              <a:rPr lang="en-US" altLang="zh-CN" sz="1400" dirty="0"/>
              <a:t>(**)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400" dirty="0" err="1"/>
              <a:t>torch.zero</a:t>
            </a:r>
            <a:r>
              <a:rPr lang="en-US" altLang="zh-CN" sz="1400" dirty="0"/>
              <a:t>((k*k*k…)) # </a:t>
            </a:r>
            <a:r>
              <a:rPr lang="zh-CN" altLang="en-US" sz="1400" dirty="0"/>
              <a:t>初始化元素为</a:t>
            </a:r>
            <a:r>
              <a:rPr lang="en-US" altLang="zh-CN" sz="1400" dirty="0"/>
              <a:t>0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400" dirty="0" err="1"/>
              <a:t>torch.eye</a:t>
            </a:r>
            <a:r>
              <a:rPr lang="en-US" altLang="zh-CN" sz="1400" dirty="0"/>
              <a:t>(k) # </a:t>
            </a:r>
            <a:r>
              <a:rPr lang="zh-CN" altLang="en-US" sz="1400" dirty="0"/>
              <a:t>初始化对角矩阵</a:t>
            </a:r>
            <a:endParaRPr lang="en-US" altLang="zh-CN" sz="1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400" dirty="0" err="1"/>
              <a:t>torch.ones</a:t>
            </a:r>
            <a:r>
              <a:rPr lang="en-US" altLang="zh-CN" sz="1400" dirty="0"/>
              <a:t>((k*k*k…)) # </a:t>
            </a:r>
            <a:r>
              <a:rPr lang="zh-CN" altLang="en-US" sz="1400" dirty="0"/>
              <a:t>初始化元素为</a:t>
            </a:r>
            <a:r>
              <a:rPr lang="en-US" altLang="zh-CN" sz="1400" dirty="0"/>
              <a:t>1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400" dirty="0" err="1"/>
              <a:t>torch.rand</a:t>
            </a:r>
            <a:r>
              <a:rPr lang="en-US" altLang="zh-CN" sz="1400" dirty="0"/>
              <a:t>(k*k*k…) #</a:t>
            </a:r>
            <a:r>
              <a:rPr lang="zh-CN" altLang="en-US" sz="1400" dirty="0"/>
              <a:t>随机初始化</a:t>
            </a:r>
            <a:r>
              <a:rPr lang="en-US" altLang="zh-CN" sz="1400" dirty="0"/>
              <a:t>[0,1]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400" dirty="0" err="1"/>
              <a:t>torch.randn</a:t>
            </a:r>
            <a:r>
              <a:rPr lang="en-US" altLang="zh-CN" sz="1400" dirty="0"/>
              <a:t>(k*k*k…) #</a:t>
            </a:r>
            <a:r>
              <a:rPr lang="zh-CN" altLang="en-US" sz="1400" dirty="0"/>
              <a:t>随机初始化</a:t>
            </a:r>
            <a:r>
              <a:rPr lang="en-US" altLang="zh-CN" sz="1400" dirty="0"/>
              <a:t>, 0-</a:t>
            </a:r>
            <a:r>
              <a:rPr lang="zh-CN" altLang="en-US" sz="1400" dirty="0"/>
              <a:t>均值 </a:t>
            </a:r>
            <a:r>
              <a:rPr lang="en-US" altLang="zh-CN" sz="1400" dirty="0"/>
              <a:t>1-</a:t>
            </a:r>
            <a:r>
              <a:rPr lang="zh-CN" altLang="en-US" sz="1400" dirty="0"/>
              <a:t>方差</a:t>
            </a:r>
            <a:endParaRPr lang="en-US" altLang="zh-CN" sz="14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1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400" dirty="0" err="1"/>
              <a:t>data.cuda</a:t>
            </a:r>
            <a:r>
              <a:rPr lang="en-US" altLang="zh-CN" sz="1400" dirty="0"/>
              <a:t>() #</a:t>
            </a:r>
            <a:r>
              <a:rPr lang="en-US" altLang="zh-CN" sz="1400" dirty="0" err="1"/>
              <a:t>cpu</a:t>
            </a:r>
            <a:r>
              <a:rPr lang="zh-CN" altLang="en-US" sz="1400" dirty="0"/>
              <a:t>转</a:t>
            </a:r>
            <a:r>
              <a:rPr lang="en-US" altLang="zh-CN" sz="1400" dirty="0" err="1"/>
              <a:t>gpu</a:t>
            </a:r>
            <a:endParaRPr lang="en-US" altLang="zh-CN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1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实例展示</a:t>
            </a:r>
            <a:endParaRPr lang="en-US" altLang="zh-CN" sz="1400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2BD81E-8F18-4269-B122-B3C593655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280" y="1406923"/>
            <a:ext cx="4499046" cy="5331061"/>
          </a:xfrm>
          <a:prstGeom prst="rect">
            <a:avLst/>
          </a:prstGeom>
        </p:spPr>
      </p:pic>
      <p:sp>
        <p:nvSpPr>
          <p:cNvPr id="5" name="标题 2">
            <a:extLst>
              <a:ext uri="{FF2B5EF4-FFF2-40B4-BE49-F238E27FC236}">
                <a16:creationId xmlns:a16="http://schemas.microsoft.com/office/drawing/2014/main" id="{185D7C72-9A05-409F-816D-FA058A0150E3}"/>
              </a:ext>
            </a:extLst>
          </p:cNvPr>
          <p:cNvSpPr txBox="1">
            <a:spLocks/>
          </p:cNvSpPr>
          <p:nvPr/>
        </p:nvSpPr>
        <p:spPr>
          <a:xfrm>
            <a:off x="487225" y="486888"/>
            <a:ext cx="2367164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000" dirty="0"/>
              <a:t>Tensor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22963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DC9DEC0-29A1-425D-A7D8-9F479F687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225" y="1366879"/>
            <a:ext cx="11117400" cy="48191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基本运算</a:t>
            </a:r>
            <a:endParaRPr lang="en-US" altLang="zh-CN" sz="1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400" dirty="0"/>
              <a:t>加减乘除：逐点操作</a:t>
            </a:r>
            <a:endParaRPr lang="en-US" altLang="zh-CN" sz="1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400" dirty="0"/>
              <a:t>矩阵乘：</a:t>
            </a:r>
            <a:r>
              <a:rPr lang="en-US" altLang="zh-CN" sz="1400" dirty="0"/>
              <a:t>data1.mm(data2)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400" dirty="0"/>
              <a:t>数据维度：</a:t>
            </a:r>
            <a:r>
              <a:rPr lang="en-US" altLang="zh-CN" sz="1400" dirty="0"/>
              <a:t>size(), reshape(),</a:t>
            </a:r>
            <a:r>
              <a:rPr lang="zh-CN" altLang="en-US" sz="1400" dirty="0"/>
              <a:t> </a:t>
            </a:r>
            <a:r>
              <a:rPr lang="en-US" altLang="zh-CN" sz="1400" dirty="0"/>
              <a:t>view(), squeeze, </a:t>
            </a:r>
            <a:r>
              <a:rPr lang="en-US" altLang="zh-CN" sz="1400" dirty="0" err="1"/>
              <a:t>unsqueeze</a:t>
            </a:r>
            <a:endParaRPr lang="en-US" altLang="zh-CN" sz="1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400" dirty="0"/>
              <a:t>转置：</a:t>
            </a:r>
            <a:r>
              <a:rPr lang="en-US" altLang="zh-CN" sz="1400" dirty="0"/>
              <a:t>transpose</a:t>
            </a:r>
            <a:r>
              <a:rPr lang="zh-CN" altLang="en-US" sz="1400" dirty="0"/>
              <a:t>，</a:t>
            </a:r>
            <a:r>
              <a:rPr lang="en-US" altLang="zh-CN" sz="1400" dirty="0"/>
              <a:t>permute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14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14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14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1400" dirty="0"/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prstClr val="black"/>
                </a:solidFill>
              </a:rPr>
              <a:t>实例展示</a:t>
            </a:r>
            <a:endParaRPr lang="en-US" altLang="zh-CN" sz="1400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008EE5BE-6F36-4297-BC7A-0A9CA754BE00}"/>
              </a:ext>
            </a:extLst>
          </p:cNvPr>
          <p:cNvSpPr txBox="1">
            <a:spLocks/>
          </p:cNvSpPr>
          <p:nvPr/>
        </p:nvSpPr>
        <p:spPr>
          <a:xfrm>
            <a:off x="487225" y="486888"/>
            <a:ext cx="2367164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000" dirty="0"/>
              <a:t>Tensor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46709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DC9DEC0-29A1-425D-A7D8-9F479F687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099" y="1460327"/>
            <a:ext cx="11075437" cy="4819167"/>
          </a:xfrm>
        </p:spPr>
        <p:txBody>
          <a:bodyPr/>
          <a:lstStyle/>
          <a:p>
            <a:r>
              <a:rPr lang="en-US" altLang="zh-CN" sz="1400" dirty="0" err="1"/>
              <a:t>tensor.data</a:t>
            </a:r>
            <a:r>
              <a:rPr lang="en-US" altLang="zh-CN" sz="1400" dirty="0"/>
              <a:t> </a:t>
            </a:r>
            <a:r>
              <a:rPr lang="zh-CN" altLang="en-US" sz="1400" dirty="0"/>
              <a:t>获取数据</a:t>
            </a:r>
            <a:endParaRPr lang="en-US" altLang="zh-CN" sz="1400" dirty="0"/>
          </a:p>
          <a:p>
            <a:r>
              <a:rPr lang="en-US" altLang="zh-CN" sz="1400" dirty="0" err="1"/>
              <a:t>tensor.grad</a:t>
            </a:r>
            <a:r>
              <a:rPr lang="zh-CN" altLang="en-US" sz="1400" dirty="0"/>
              <a:t> 获取梯度</a:t>
            </a:r>
            <a:endParaRPr lang="en-US" altLang="zh-CN" sz="1400" dirty="0"/>
          </a:p>
          <a:p>
            <a:r>
              <a:rPr lang="en-US" altLang="zh-CN" sz="1400" dirty="0" err="1"/>
              <a:t>tensor.grad_fn</a:t>
            </a:r>
            <a:r>
              <a:rPr lang="en-US" altLang="zh-CN" sz="1400" dirty="0"/>
              <a:t> </a:t>
            </a:r>
            <a:r>
              <a:rPr lang="zh-CN" altLang="en-US" sz="1400" dirty="0"/>
              <a:t>获取产生方式</a:t>
            </a:r>
            <a:endParaRPr lang="en-US" altLang="zh-CN" sz="1400" dirty="0"/>
          </a:p>
          <a:p>
            <a:pPr marL="0" indent="0">
              <a:buNone/>
            </a:pPr>
            <a:endParaRPr lang="en-US" altLang="zh-CN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66F5B24-6389-4EDA-B809-EABA634C8905}"/>
              </a:ext>
            </a:extLst>
          </p:cNvPr>
          <p:cNvGrpSpPr/>
          <p:nvPr/>
        </p:nvGrpSpPr>
        <p:grpSpPr>
          <a:xfrm>
            <a:off x="872417" y="3051253"/>
            <a:ext cx="3404937" cy="2153653"/>
            <a:chOff x="1263316" y="2815389"/>
            <a:chExt cx="3404937" cy="2153653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0380DA3-F2C6-4E2F-94FA-5D60F30BFF8E}"/>
                </a:ext>
              </a:extLst>
            </p:cNvPr>
            <p:cNvSpPr txBox="1"/>
            <p:nvPr/>
          </p:nvSpPr>
          <p:spPr>
            <a:xfrm>
              <a:off x="1648326" y="3175954"/>
              <a:ext cx="974558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/>
                <a:t>data</a:t>
              </a:r>
              <a:endParaRPr lang="zh-CN" altLang="en-US" sz="28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07E9880-ED79-4EBC-BC02-CDB05ECC2CF9}"/>
                </a:ext>
              </a:extLst>
            </p:cNvPr>
            <p:cNvSpPr txBox="1"/>
            <p:nvPr/>
          </p:nvSpPr>
          <p:spPr>
            <a:xfrm>
              <a:off x="3227640" y="3175954"/>
              <a:ext cx="974558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/>
                <a:t>grad</a:t>
              </a:r>
              <a:endParaRPr lang="zh-CN" altLang="en-US" sz="28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087EDFF-3432-494E-B11B-AF3F5454076A}"/>
                </a:ext>
              </a:extLst>
            </p:cNvPr>
            <p:cNvSpPr txBox="1"/>
            <p:nvPr/>
          </p:nvSpPr>
          <p:spPr>
            <a:xfrm>
              <a:off x="2249906" y="4042192"/>
              <a:ext cx="1319463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/>
                <a:t>creator</a:t>
              </a:r>
              <a:endParaRPr lang="zh-CN" altLang="en-US" sz="2800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923483C-B789-4D58-AED4-66B4ECB512AC}"/>
                </a:ext>
              </a:extLst>
            </p:cNvPr>
            <p:cNvSpPr/>
            <p:nvPr/>
          </p:nvSpPr>
          <p:spPr>
            <a:xfrm>
              <a:off x="1263316" y="2815389"/>
              <a:ext cx="3404937" cy="215365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811ADC43-CF50-43A4-A632-1AE558A2E15F}"/>
              </a:ext>
            </a:extLst>
          </p:cNvPr>
          <p:cNvSpPr/>
          <p:nvPr/>
        </p:nvSpPr>
        <p:spPr>
          <a:xfrm>
            <a:off x="485275" y="5993336"/>
            <a:ext cx="10631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1400" dirty="0"/>
              <a:t>实例展示</a:t>
            </a:r>
            <a:endParaRPr lang="en-US" altLang="zh-CN" sz="1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7F124F0-A58A-48CD-8278-885B6F29B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58563"/>
            <a:ext cx="5508625" cy="4552950"/>
          </a:xfrm>
          <a:prstGeom prst="rect">
            <a:avLst/>
          </a:prstGeom>
        </p:spPr>
      </p:pic>
      <p:sp>
        <p:nvSpPr>
          <p:cNvPr id="12" name="标题 2">
            <a:extLst>
              <a:ext uri="{FF2B5EF4-FFF2-40B4-BE49-F238E27FC236}">
                <a16:creationId xmlns:a16="http://schemas.microsoft.com/office/drawing/2014/main" id="{BDC2390C-4DA4-4221-9A13-19D8734CC143}"/>
              </a:ext>
            </a:extLst>
          </p:cNvPr>
          <p:cNvSpPr txBox="1">
            <a:spLocks/>
          </p:cNvSpPr>
          <p:nvPr/>
        </p:nvSpPr>
        <p:spPr>
          <a:xfrm>
            <a:off x="487224" y="486888"/>
            <a:ext cx="5608775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000" dirty="0"/>
              <a:t>Tensor(</a:t>
            </a:r>
            <a:r>
              <a:rPr lang="en-US" altLang="zh-CN" sz="2000" dirty="0" err="1"/>
              <a:t>requires_grad</a:t>
            </a:r>
            <a:r>
              <a:rPr lang="en-US" altLang="zh-CN" sz="2000" dirty="0"/>
              <a:t>=True)  </a:t>
            </a:r>
            <a:r>
              <a:rPr lang="en-US" altLang="zh-CN" sz="2000" dirty="0">
                <a:sym typeface="Wingdings" panose="05000000000000000000" pitchFamily="2" charset="2"/>
              </a:rPr>
              <a:t>&lt;==&gt;Variable 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17308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B0386B5-EEE1-4B6A-A4A5-258229EE1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099" y="1426338"/>
            <a:ext cx="11125200" cy="536825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方式一：</a:t>
            </a:r>
            <a:endParaRPr lang="en-US" altLang="zh-CN" sz="1400" dirty="0"/>
          </a:p>
          <a:p>
            <a:pPr lvl="1">
              <a:lnSpc>
                <a:spcPct val="100000"/>
              </a:lnSpc>
            </a:pPr>
            <a:r>
              <a:rPr lang="en-US" altLang="zh-CN" sz="1200" dirty="0"/>
              <a:t>torch.nn.Conv2d(</a:t>
            </a:r>
            <a:r>
              <a:rPr lang="en-US" altLang="zh-CN" sz="1200" dirty="0" err="1"/>
              <a:t>in_channels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out_channels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kernel_size</a:t>
            </a:r>
            <a:r>
              <a:rPr lang="en-US" altLang="zh-CN" sz="1200" dirty="0"/>
              <a:t>, stride=1, padding=0, dilation=1, groups=1, bias=True)</a:t>
            </a:r>
          </a:p>
          <a:p>
            <a:pPr lvl="1">
              <a:lnSpc>
                <a:spcPct val="100000"/>
              </a:lnSpc>
            </a:pPr>
            <a:r>
              <a:rPr lang="en-US" altLang="zh-CN" sz="1200" dirty="0"/>
              <a:t>torch.nn.MaxPool2d(</a:t>
            </a:r>
            <a:r>
              <a:rPr lang="en-US" altLang="zh-CN" sz="1200" dirty="0" err="1"/>
              <a:t>kernel_size</a:t>
            </a:r>
            <a:r>
              <a:rPr lang="en-US" altLang="zh-CN" sz="1200" dirty="0"/>
              <a:t>, stride=None, padding=0, dilation=1, </a:t>
            </a:r>
            <a:r>
              <a:rPr lang="en-US" altLang="zh-CN" sz="1200" dirty="0" err="1"/>
              <a:t>return_indices</a:t>
            </a:r>
            <a:r>
              <a:rPr lang="en-US" altLang="zh-CN" sz="1200" dirty="0"/>
              <a:t>=False, </a:t>
            </a:r>
            <a:r>
              <a:rPr lang="en-US" altLang="zh-CN" sz="1200" dirty="0" err="1"/>
              <a:t>ceil_mode</a:t>
            </a:r>
            <a:r>
              <a:rPr lang="en-US" altLang="zh-CN" sz="1200" dirty="0"/>
              <a:t>=False)</a:t>
            </a:r>
          </a:p>
          <a:p>
            <a:pPr lvl="1">
              <a:lnSpc>
                <a:spcPct val="100000"/>
              </a:lnSpc>
            </a:pPr>
            <a:r>
              <a:rPr lang="en-US" altLang="zh-CN" sz="1200" dirty="0"/>
              <a:t>torch.nn.AvePool2d(</a:t>
            </a:r>
            <a:r>
              <a:rPr lang="en-US" altLang="zh-CN" sz="1200" dirty="0" err="1"/>
              <a:t>kernel_size</a:t>
            </a:r>
            <a:r>
              <a:rPr lang="en-US" altLang="zh-CN" sz="1200" dirty="0"/>
              <a:t>, stride=None, padding=0, dilation=1, </a:t>
            </a:r>
            <a:r>
              <a:rPr lang="en-US" altLang="zh-CN" sz="1200" dirty="0" err="1"/>
              <a:t>return_indices</a:t>
            </a:r>
            <a:r>
              <a:rPr lang="en-US" altLang="zh-CN" sz="1200" dirty="0"/>
              <a:t>=False, </a:t>
            </a:r>
            <a:r>
              <a:rPr lang="en-US" altLang="zh-CN" sz="1200" dirty="0" err="1"/>
              <a:t>ceil_mode</a:t>
            </a:r>
            <a:r>
              <a:rPr lang="en-US" altLang="zh-CN" sz="1200" dirty="0"/>
              <a:t>=False)</a:t>
            </a:r>
          </a:p>
          <a:p>
            <a:pPr lvl="1">
              <a:lnSpc>
                <a:spcPct val="100000"/>
              </a:lnSpc>
            </a:pPr>
            <a:r>
              <a:rPr lang="en-US" altLang="zh-CN" sz="1200" dirty="0" err="1"/>
              <a:t>torch.nn.ReLU</a:t>
            </a:r>
            <a:r>
              <a:rPr lang="en-US" altLang="zh-CN" sz="1200" dirty="0"/>
              <a:t>(</a:t>
            </a:r>
            <a:r>
              <a:rPr lang="en-US" altLang="zh-CN" sz="1200" dirty="0" err="1"/>
              <a:t>inplace</a:t>
            </a:r>
            <a:r>
              <a:rPr lang="en-US" altLang="zh-CN" sz="1200" dirty="0"/>
              <a:t>=False)</a:t>
            </a:r>
          </a:p>
          <a:p>
            <a:pPr lvl="1">
              <a:lnSpc>
                <a:spcPct val="100000"/>
              </a:lnSpc>
            </a:pPr>
            <a:r>
              <a:rPr lang="en-US" altLang="zh-CN" sz="1200" dirty="0" err="1"/>
              <a:t>torch.nn.Sequential</a:t>
            </a:r>
            <a:r>
              <a:rPr lang="en-US" altLang="zh-CN" sz="1200" dirty="0"/>
              <a:t>()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方式二：</a:t>
            </a:r>
            <a:endParaRPr lang="en-US" altLang="zh-CN" sz="1400" dirty="0"/>
          </a:p>
          <a:p>
            <a:pPr lvl="1">
              <a:lnSpc>
                <a:spcPct val="100000"/>
              </a:lnSpc>
            </a:pPr>
            <a:r>
              <a:rPr lang="en-US" altLang="zh-CN" sz="1200" dirty="0"/>
              <a:t>torch.nn.functional.conv2d(input, weight, bias=None, ward</a:t>
            </a:r>
            <a:r>
              <a:rPr lang="zh-CN" altLang="en-US" sz="1200" dirty="0"/>
              <a:t>的过程中，</a:t>
            </a:r>
            <a:r>
              <a:rPr lang="en-US" altLang="zh-CN" sz="1200" dirty="0"/>
              <a:t>Function</a:t>
            </a:r>
            <a:r>
              <a:rPr lang="zh-CN" altLang="en-US" sz="1200" dirty="0"/>
              <a:t>和</a:t>
            </a:r>
            <a:r>
              <a:rPr lang="en-US" altLang="zh-CN" sz="1200" dirty="0"/>
              <a:t>Variable</a:t>
            </a:r>
            <a:r>
              <a:rPr lang="zh-CN" altLang="en-US" sz="1200" dirty="0"/>
              <a:t>组成了计算图，在</a:t>
            </a:r>
            <a:r>
              <a:rPr lang="en-US" altLang="zh-CN" sz="1200" dirty="0"/>
              <a:t>backward</a:t>
            </a:r>
            <a:r>
              <a:rPr lang="zh-CN" altLang="en-US" sz="1200" dirty="0"/>
              <a:t>时，只需调用</a:t>
            </a:r>
            <a:r>
              <a:rPr lang="en-US" altLang="zh-CN" sz="1200" dirty="0"/>
              <a:t>Function</a:t>
            </a:r>
            <a:r>
              <a:rPr lang="zh-CN" altLang="en-US" sz="1200" dirty="0"/>
              <a:t>的</a:t>
            </a:r>
            <a:r>
              <a:rPr lang="en-US" altLang="zh-CN" sz="1200" dirty="0"/>
              <a:t>backward</a:t>
            </a:r>
            <a:r>
              <a:rPr lang="zh-CN" altLang="en-US" sz="1200" dirty="0"/>
              <a:t>就得到结果，因此</a:t>
            </a:r>
            <a:r>
              <a:rPr lang="en-US" altLang="zh-CN" sz="1200" dirty="0"/>
              <a:t>Module</a:t>
            </a:r>
            <a:r>
              <a:rPr lang="zh-CN" altLang="en-US" sz="1200" dirty="0"/>
              <a:t>不需要再定义</a:t>
            </a:r>
            <a:r>
              <a:rPr lang="en-US" altLang="zh-CN" sz="1200" dirty="0"/>
              <a:t>backward</a:t>
            </a:r>
            <a:r>
              <a:rPr lang="zh-CN" altLang="en-US" sz="1200" dirty="0"/>
              <a:t>。</a:t>
            </a:r>
          </a:p>
          <a:p>
            <a:pPr lvl="1">
              <a:lnSpc>
                <a:spcPct val="100000"/>
              </a:lnSpc>
            </a:pPr>
            <a:r>
              <a:rPr lang="en-US" altLang="zh-CN" sz="1200" dirty="0"/>
              <a:t>Module</a:t>
            </a:r>
            <a:r>
              <a:rPr lang="zh-CN" altLang="en-US" sz="1200" dirty="0"/>
              <a:t>不仅包括了</a:t>
            </a:r>
            <a:r>
              <a:rPr lang="en-US" altLang="zh-CN" sz="1200" dirty="0"/>
              <a:t>Function</a:t>
            </a:r>
            <a:r>
              <a:rPr lang="zh-CN" altLang="en-US" sz="1200" dirty="0"/>
              <a:t>，还包括了对应的参数，以及其他函数与变量，这是</a:t>
            </a:r>
            <a:r>
              <a:rPr lang="en-US" altLang="zh-CN" sz="1200" dirty="0"/>
              <a:t>Function</a:t>
            </a:r>
            <a:r>
              <a:rPr lang="zh-CN" altLang="en-US" sz="1200" dirty="0"/>
              <a:t>所不具备的</a:t>
            </a:r>
            <a:endParaRPr lang="en-US" altLang="zh-CN" sz="1200" dirty="0"/>
          </a:p>
          <a:p>
            <a:pPr lvl="1">
              <a:lnSpc>
                <a:spcPct val="100000"/>
              </a:lnSpc>
            </a:pPr>
            <a:endParaRPr lang="en-US" altLang="zh-CN" sz="1200" dirty="0"/>
          </a:p>
          <a:p>
            <a:pPr lvl="1">
              <a:lnSpc>
                <a:spcPct val="100000"/>
              </a:lnSpc>
            </a:pPr>
            <a:r>
              <a:rPr lang="en-US" altLang="zh-CN" sz="1200" dirty="0"/>
              <a:t>stride=1, padding=0, dilation=1, groups=1)</a:t>
            </a:r>
          </a:p>
          <a:p>
            <a:pPr lvl="1">
              <a:lnSpc>
                <a:spcPct val="100000"/>
              </a:lnSpc>
            </a:pPr>
            <a:r>
              <a:rPr lang="en-US" altLang="zh-CN" sz="1200" dirty="0" err="1"/>
              <a:t>torch.nn.functional.relu</a:t>
            </a:r>
            <a:r>
              <a:rPr lang="en-US" altLang="zh-CN" sz="1200" dirty="0"/>
              <a:t>(input, </a:t>
            </a:r>
            <a:r>
              <a:rPr lang="en-US" altLang="zh-CN" sz="1200" dirty="0" err="1"/>
              <a:t>inplace</a:t>
            </a:r>
            <a:r>
              <a:rPr lang="en-US" altLang="zh-CN" sz="1200" dirty="0"/>
              <a:t>=False)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区别</a:t>
            </a:r>
            <a:endParaRPr lang="en-US" altLang="zh-CN" sz="1400" dirty="0"/>
          </a:p>
          <a:p>
            <a:pPr lvl="1">
              <a:lnSpc>
                <a:spcPct val="100000"/>
              </a:lnSpc>
            </a:pPr>
            <a:r>
              <a:rPr lang="en-US" altLang="zh-CN" sz="1200" dirty="0"/>
              <a:t>Function</a:t>
            </a:r>
            <a:r>
              <a:rPr lang="zh-CN" altLang="en-US" sz="1200" dirty="0"/>
              <a:t>一般只定义一个操作，因为其无法保存参数，因此适用于激活函数、</a:t>
            </a:r>
            <a:r>
              <a:rPr lang="en-US" altLang="zh-CN" sz="1200" dirty="0"/>
              <a:t>pooling</a:t>
            </a:r>
            <a:r>
              <a:rPr lang="zh-CN" altLang="en-US" sz="1200" dirty="0"/>
              <a:t>等操作；</a:t>
            </a:r>
            <a:r>
              <a:rPr lang="en-US" altLang="zh-CN" sz="1200" dirty="0"/>
              <a:t>Module</a:t>
            </a:r>
            <a:r>
              <a:rPr lang="zh-CN" altLang="en-US" sz="1200" dirty="0"/>
              <a:t>是保存了参数，因此适合于定义一层，如线性层，卷积层，也适用于定义一个网络</a:t>
            </a:r>
          </a:p>
          <a:p>
            <a:pPr lvl="1">
              <a:lnSpc>
                <a:spcPct val="100000"/>
              </a:lnSpc>
            </a:pPr>
            <a:r>
              <a:rPr lang="en-US" altLang="zh-CN" sz="1200" dirty="0"/>
              <a:t>Function</a:t>
            </a:r>
            <a:r>
              <a:rPr lang="zh-CN" altLang="en-US" sz="1200" dirty="0"/>
              <a:t>需要定义三个方法：</a:t>
            </a:r>
            <a:r>
              <a:rPr lang="en-US" altLang="zh-CN" sz="1200" dirty="0"/>
              <a:t>__</a:t>
            </a:r>
            <a:r>
              <a:rPr lang="en-US" altLang="zh-CN" sz="1200" dirty="0" err="1"/>
              <a:t>init</a:t>
            </a:r>
            <a:r>
              <a:rPr lang="en-US" altLang="zh-CN" sz="1200" dirty="0"/>
              <a:t>__, forward, backward</a:t>
            </a:r>
            <a:r>
              <a:rPr lang="zh-CN" altLang="en-US" sz="1200" dirty="0"/>
              <a:t>（需要自己写求导公式）；</a:t>
            </a:r>
            <a:r>
              <a:rPr lang="en-US" altLang="zh-CN" sz="1200" dirty="0"/>
              <a:t>Module</a:t>
            </a:r>
            <a:r>
              <a:rPr lang="zh-CN" altLang="en-US" sz="1200" dirty="0"/>
              <a:t>：只需定义</a:t>
            </a:r>
            <a:r>
              <a:rPr lang="en-US" altLang="zh-CN" sz="1200" dirty="0"/>
              <a:t>__</a:t>
            </a:r>
            <a:r>
              <a:rPr lang="en-US" altLang="zh-CN" sz="1200" dirty="0" err="1"/>
              <a:t>init</a:t>
            </a:r>
            <a:r>
              <a:rPr lang="en-US" altLang="zh-CN" sz="1200" dirty="0"/>
              <a:t>__</a:t>
            </a:r>
            <a:r>
              <a:rPr lang="zh-CN" altLang="en-US" sz="1200" dirty="0"/>
              <a:t>和</a:t>
            </a:r>
            <a:r>
              <a:rPr lang="en-US" altLang="zh-CN" sz="1200" dirty="0"/>
              <a:t>forward</a:t>
            </a:r>
            <a:r>
              <a:rPr lang="zh-CN" altLang="en-US" sz="1200" dirty="0"/>
              <a:t>，而</a:t>
            </a:r>
            <a:r>
              <a:rPr lang="en-US" altLang="zh-CN" sz="1200" dirty="0"/>
              <a:t>backward</a:t>
            </a:r>
            <a:r>
              <a:rPr lang="zh-CN" altLang="en-US" sz="1200" dirty="0"/>
              <a:t>的计算由自动求导机制构成</a:t>
            </a:r>
          </a:p>
          <a:p>
            <a:pPr lvl="1">
              <a:lnSpc>
                <a:spcPct val="100000"/>
              </a:lnSpc>
            </a:pPr>
            <a:r>
              <a:rPr lang="en-US" altLang="zh-CN" sz="1200" dirty="0"/>
              <a:t>Module</a:t>
            </a:r>
            <a:r>
              <a:rPr lang="zh-CN" altLang="en-US" sz="1200" dirty="0"/>
              <a:t>是由一系列</a:t>
            </a:r>
            <a:r>
              <a:rPr lang="en-US" altLang="zh-CN" sz="1200" dirty="0"/>
              <a:t>Function</a:t>
            </a:r>
            <a:r>
              <a:rPr lang="zh-CN" altLang="en-US" sz="1200" dirty="0"/>
              <a:t>组成，因此其在</a:t>
            </a:r>
            <a:r>
              <a:rPr lang="en-US" altLang="zh-CN" sz="1200" dirty="0"/>
              <a:t>for</a:t>
            </a:r>
          </a:p>
          <a:p>
            <a:pPr>
              <a:lnSpc>
                <a:spcPct val="100000"/>
              </a:lnSpc>
            </a:pPr>
            <a:endParaRPr lang="en-US" altLang="zh-CN" sz="140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sz="1400" dirty="0"/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04A37F7D-C2C7-456A-B9F8-A11E534B1522}"/>
              </a:ext>
            </a:extLst>
          </p:cNvPr>
          <p:cNvSpPr txBox="1">
            <a:spLocks/>
          </p:cNvSpPr>
          <p:nvPr/>
        </p:nvSpPr>
        <p:spPr>
          <a:xfrm>
            <a:off x="487224" y="486888"/>
            <a:ext cx="5608775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000" dirty="0" err="1"/>
              <a:t>nn</a:t>
            </a:r>
            <a:r>
              <a:rPr lang="en-US" altLang="zh-CN" sz="2000" dirty="0"/>
              <a:t>—</a:t>
            </a:r>
            <a:r>
              <a:rPr lang="zh-CN" altLang="en-US" sz="2000" dirty="0"/>
              <a:t>卷积</a:t>
            </a:r>
            <a:r>
              <a:rPr lang="en-US" altLang="zh-CN" sz="2000" dirty="0"/>
              <a:t>.</a:t>
            </a:r>
            <a:r>
              <a:rPr lang="zh-CN" altLang="en-US" sz="2000" dirty="0"/>
              <a:t>池化</a:t>
            </a:r>
            <a:r>
              <a:rPr lang="en-US" altLang="zh-CN" sz="2000" dirty="0"/>
              <a:t>.</a:t>
            </a:r>
            <a:r>
              <a:rPr lang="zh-CN" altLang="en-US" sz="2000" dirty="0"/>
              <a:t>激活等层</a:t>
            </a:r>
          </a:p>
        </p:txBody>
      </p:sp>
    </p:spTree>
    <p:extLst>
      <p:ext uri="{BB962C8B-B14F-4D97-AF65-F5344CB8AC3E}">
        <p14:creationId xmlns:p14="http://schemas.microsoft.com/office/powerpoint/2010/main" val="1916958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B0386B5-EEE1-4B6A-A4A5-258229EE1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224" y="1435005"/>
            <a:ext cx="11124074" cy="529284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方式一：</a:t>
            </a:r>
            <a:endParaRPr lang="en-US" altLang="zh-CN" sz="1400" dirty="0"/>
          </a:p>
          <a:p>
            <a:pPr lvl="1">
              <a:lnSpc>
                <a:spcPct val="100000"/>
              </a:lnSpc>
            </a:pPr>
            <a:r>
              <a:rPr lang="en-US" altLang="zh-CN" sz="1200" dirty="0"/>
              <a:t>torch.nn.Conv2d(</a:t>
            </a:r>
            <a:r>
              <a:rPr lang="en-US" altLang="zh-CN" sz="1200" dirty="0" err="1"/>
              <a:t>in_channels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out_channels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kernel_size</a:t>
            </a:r>
            <a:r>
              <a:rPr lang="en-US" altLang="zh-CN" sz="1200" dirty="0"/>
              <a:t>, stride=1, padding=0, dilation=1, groups=1, bias=True)</a:t>
            </a:r>
          </a:p>
          <a:p>
            <a:pPr lvl="1">
              <a:lnSpc>
                <a:spcPct val="100000"/>
              </a:lnSpc>
            </a:pPr>
            <a:r>
              <a:rPr lang="en-US" altLang="zh-CN" sz="1200" dirty="0"/>
              <a:t>torch.nn.MaxPool2d(</a:t>
            </a:r>
            <a:r>
              <a:rPr lang="en-US" altLang="zh-CN" sz="1200" dirty="0" err="1"/>
              <a:t>kernel_size</a:t>
            </a:r>
            <a:r>
              <a:rPr lang="en-US" altLang="zh-CN" sz="1200" dirty="0"/>
              <a:t>, stride=None, padding=0, dilation=1, </a:t>
            </a:r>
            <a:r>
              <a:rPr lang="en-US" altLang="zh-CN" sz="1200" dirty="0" err="1"/>
              <a:t>return_indices</a:t>
            </a:r>
            <a:r>
              <a:rPr lang="en-US" altLang="zh-CN" sz="1200" dirty="0"/>
              <a:t>=False, </a:t>
            </a:r>
            <a:r>
              <a:rPr lang="en-US" altLang="zh-CN" sz="1200" dirty="0" err="1"/>
              <a:t>ceil_mode</a:t>
            </a:r>
            <a:r>
              <a:rPr lang="en-US" altLang="zh-CN" sz="1200" dirty="0"/>
              <a:t>=False)</a:t>
            </a:r>
          </a:p>
          <a:p>
            <a:pPr lvl="1">
              <a:lnSpc>
                <a:spcPct val="100000"/>
              </a:lnSpc>
            </a:pPr>
            <a:r>
              <a:rPr lang="en-US" altLang="zh-CN" sz="1200" dirty="0"/>
              <a:t>torch.nn.AvePool2d(</a:t>
            </a:r>
            <a:r>
              <a:rPr lang="en-US" altLang="zh-CN" sz="1200" dirty="0" err="1"/>
              <a:t>kernel_size</a:t>
            </a:r>
            <a:r>
              <a:rPr lang="en-US" altLang="zh-CN" sz="1200" dirty="0"/>
              <a:t>, stride=None, padding=0, dilation=1, </a:t>
            </a:r>
            <a:r>
              <a:rPr lang="en-US" altLang="zh-CN" sz="1200" dirty="0" err="1"/>
              <a:t>return_indices</a:t>
            </a:r>
            <a:r>
              <a:rPr lang="en-US" altLang="zh-CN" sz="1200" dirty="0"/>
              <a:t>=False, </a:t>
            </a:r>
            <a:r>
              <a:rPr lang="en-US" altLang="zh-CN" sz="1200" dirty="0" err="1"/>
              <a:t>ceil_mode</a:t>
            </a:r>
            <a:r>
              <a:rPr lang="en-US" altLang="zh-CN" sz="1200" dirty="0"/>
              <a:t>=False)</a:t>
            </a:r>
          </a:p>
          <a:p>
            <a:pPr lvl="1">
              <a:lnSpc>
                <a:spcPct val="100000"/>
              </a:lnSpc>
            </a:pPr>
            <a:r>
              <a:rPr lang="en-US" altLang="zh-CN" sz="1200" dirty="0" err="1"/>
              <a:t>torch.nn.ReLU</a:t>
            </a:r>
            <a:r>
              <a:rPr lang="en-US" altLang="zh-CN" sz="1200" dirty="0"/>
              <a:t>(</a:t>
            </a:r>
            <a:r>
              <a:rPr lang="en-US" altLang="zh-CN" sz="1200" dirty="0" err="1"/>
              <a:t>inplace</a:t>
            </a:r>
            <a:r>
              <a:rPr lang="en-US" altLang="zh-CN" sz="1200" dirty="0"/>
              <a:t>=False)</a:t>
            </a:r>
          </a:p>
          <a:p>
            <a:pPr lvl="1">
              <a:lnSpc>
                <a:spcPct val="100000"/>
              </a:lnSpc>
            </a:pPr>
            <a:r>
              <a:rPr lang="en-US" altLang="zh-CN" sz="1200" dirty="0" err="1"/>
              <a:t>torch.nn.Sequential</a:t>
            </a:r>
            <a:r>
              <a:rPr lang="en-US" altLang="zh-CN" sz="1200" dirty="0"/>
              <a:t>()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方式二：</a:t>
            </a:r>
            <a:endParaRPr lang="en-US" altLang="zh-CN" sz="1400" dirty="0"/>
          </a:p>
          <a:p>
            <a:pPr lvl="1">
              <a:lnSpc>
                <a:spcPct val="100000"/>
              </a:lnSpc>
            </a:pPr>
            <a:r>
              <a:rPr lang="en-US" altLang="zh-CN" sz="1200" dirty="0"/>
              <a:t>torch.nn.functional.conv2d(input, weight, bias=None, stride=1, padding=0, dilation=1, groups=1)</a:t>
            </a:r>
          </a:p>
          <a:p>
            <a:pPr lvl="1">
              <a:lnSpc>
                <a:spcPct val="100000"/>
              </a:lnSpc>
            </a:pPr>
            <a:r>
              <a:rPr lang="en-US" altLang="zh-CN" sz="1200" dirty="0" err="1"/>
              <a:t>torch.nn.functional.relu</a:t>
            </a:r>
            <a:r>
              <a:rPr lang="en-US" altLang="zh-CN" sz="1200" dirty="0"/>
              <a:t>(input, </a:t>
            </a:r>
            <a:r>
              <a:rPr lang="en-US" altLang="zh-CN" sz="1200" dirty="0" err="1"/>
              <a:t>inplace</a:t>
            </a:r>
            <a:r>
              <a:rPr lang="en-US" altLang="zh-CN" sz="1200" dirty="0"/>
              <a:t>=False)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区别</a:t>
            </a:r>
            <a:endParaRPr lang="en-US" altLang="zh-CN" sz="14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zh-CN" altLang="en-US" sz="1200" dirty="0"/>
              <a:t>方式一：</a:t>
            </a:r>
            <a:endParaRPr lang="en-US" altLang="zh-CN" sz="12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1200" dirty="0" err="1"/>
              <a:t>myConv</a:t>
            </a:r>
            <a:r>
              <a:rPr lang="en-US" altLang="zh-CN" sz="1200" dirty="0"/>
              <a:t> = torch. nn.Conv2d(16, 33, 3, stride=1, padding=1)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1200" dirty="0" err="1"/>
              <a:t>myRelu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torch.nn.ReLU</a:t>
            </a:r>
            <a:r>
              <a:rPr lang="en-US" altLang="zh-CN" sz="1200" dirty="0"/>
              <a:t>(</a:t>
            </a:r>
            <a:r>
              <a:rPr lang="en-US" altLang="zh-CN" sz="1200" dirty="0" err="1"/>
              <a:t>inplace</a:t>
            </a:r>
            <a:r>
              <a:rPr lang="en-US" altLang="zh-CN" sz="1200" dirty="0"/>
              <a:t>=True)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1200" dirty="0"/>
              <a:t>input = </a:t>
            </a:r>
            <a:r>
              <a:rPr lang="en-US" altLang="zh-CN" sz="1200" dirty="0" err="1"/>
              <a:t>torch.randn</a:t>
            </a:r>
            <a:r>
              <a:rPr lang="en-US" altLang="zh-CN" sz="1200" dirty="0"/>
              <a:t>(20, 16, 50, 100)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1200" dirty="0"/>
              <a:t>output = </a:t>
            </a:r>
            <a:r>
              <a:rPr lang="en-US" altLang="zh-CN" sz="1200" dirty="0" err="1"/>
              <a:t>myConv</a:t>
            </a:r>
            <a:r>
              <a:rPr lang="en-US" altLang="zh-CN" sz="1200" dirty="0"/>
              <a:t>(input)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1200" dirty="0"/>
              <a:t>output = </a:t>
            </a:r>
            <a:r>
              <a:rPr lang="en-US" altLang="zh-CN" sz="1200" dirty="0" err="1"/>
              <a:t>myRelu</a:t>
            </a:r>
            <a:r>
              <a:rPr lang="en-US" altLang="zh-CN" sz="1200" dirty="0"/>
              <a:t>(output)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zh-CN" altLang="en-US" sz="1200" dirty="0"/>
              <a:t>方式二：</a:t>
            </a:r>
            <a:endParaRPr lang="en-US" altLang="zh-CN" sz="12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1200" dirty="0"/>
              <a:t>weight = </a:t>
            </a:r>
            <a:r>
              <a:rPr lang="en-US" altLang="zh-CN" sz="1200" dirty="0" err="1"/>
              <a:t>torch.randn</a:t>
            </a:r>
            <a:r>
              <a:rPr lang="en-US" altLang="zh-CN" sz="1200" dirty="0"/>
              <a:t>(33,16,3,3)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1200" dirty="0"/>
              <a:t>input = </a:t>
            </a:r>
            <a:r>
              <a:rPr lang="en-US" altLang="zh-CN" sz="1200" dirty="0" err="1"/>
              <a:t>torch.randn</a:t>
            </a:r>
            <a:r>
              <a:rPr lang="en-US" altLang="zh-CN" sz="1200" dirty="0"/>
              <a:t>(20, 16, 50, 100)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1200" dirty="0"/>
              <a:t>output = torch.nn.functional.conv2d(input, </a:t>
            </a:r>
            <a:r>
              <a:rPr lang="en-US" altLang="zh-CN" sz="1200" dirty="0" err="1"/>
              <a:t>weight,stride</a:t>
            </a:r>
            <a:r>
              <a:rPr lang="en-US" altLang="zh-CN" sz="1200" dirty="0"/>
              <a:t>=1, padding=1)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1200" dirty="0"/>
              <a:t>output = </a:t>
            </a:r>
            <a:r>
              <a:rPr lang="en-US" altLang="zh-CN" sz="1200" dirty="0" err="1"/>
              <a:t>torch.nn.functional.relu</a:t>
            </a:r>
            <a:r>
              <a:rPr lang="en-US" altLang="zh-CN" sz="1200" dirty="0"/>
              <a:t>(output)</a:t>
            </a:r>
          </a:p>
          <a:p>
            <a:pPr marL="457200" lvl="1" indent="0">
              <a:buNone/>
            </a:pPr>
            <a:endParaRPr lang="en-US" altLang="zh-CN" sz="1400" dirty="0"/>
          </a:p>
          <a:p>
            <a:pPr marL="457200" lvl="1" indent="0">
              <a:buNone/>
            </a:pPr>
            <a:endParaRPr lang="en-US" altLang="zh-CN" sz="1400" dirty="0"/>
          </a:p>
          <a:p>
            <a:pPr marL="457200" lvl="1" indent="0">
              <a:buNone/>
            </a:pPr>
            <a:endParaRPr lang="en-US" altLang="zh-CN" sz="1400" dirty="0"/>
          </a:p>
          <a:p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27FB86AB-B0D9-4399-B9C7-ADE70A25DE62}"/>
              </a:ext>
            </a:extLst>
          </p:cNvPr>
          <p:cNvSpPr/>
          <p:nvPr/>
        </p:nvSpPr>
        <p:spPr>
          <a:xfrm>
            <a:off x="6935193" y="3653034"/>
            <a:ext cx="4322359" cy="29880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标题 2">
            <a:extLst>
              <a:ext uri="{FF2B5EF4-FFF2-40B4-BE49-F238E27FC236}">
                <a16:creationId xmlns:a16="http://schemas.microsoft.com/office/drawing/2014/main" id="{452DD70F-8A57-46CF-9F59-C83EFED48874}"/>
              </a:ext>
            </a:extLst>
          </p:cNvPr>
          <p:cNvSpPr txBox="1">
            <a:spLocks/>
          </p:cNvSpPr>
          <p:nvPr/>
        </p:nvSpPr>
        <p:spPr>
          <a:xfrm>
            <a:off x="487224" y="486888"/>
            <a:ext cx="5608775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000" dirty="0" err="1"/>
              <a:t>nn</a:t>
            </a:r>
            <a:r>
              <a:rPr lang="en-US" altLang="zh-CN" sz="2000" dirty="0"/>
              <a:t>—</a:t>
            </a:r>
            <a:r>
              <a:rPr lang="zh-CN" altLang="en-US" sz="2000" dirty="0"/>
              <a:t>卷积</a:t>
            </a:r>
            <a:r>
              <a:rPr lang="en-US" altLang="zh-CN" sz="2000" dirty="0"/>
              <a:t>.</a:t>
            </a:r>
            <a:r>
              <a:rPr lang="zh-CN" altLang="en-US" sz="2000" dirty="0"/>
              <a:t>池化</a:t>
            </a:r>
            <a:r>
              <a:rPr lang="en-US" altLang="zh-CN" sz="2000" dirty="0"/>
              <a:t>.</a:t>
            </a:r>
            <a:r>
              <a:rPr lang="zh-CN" altLang="en-US" sz="2000" dirty="0"/>
              <a:t>激活等层</a:t>
            </a:r>
          </a:p>
        </p:txBody>
      </p:sp>
    </p:spTree>
    <p:extLst>
      <p:ext uri="{BB962C8B-B14F-4D97-AF65-F5344CB8AC3E}">
        <p14:creationId xmlns:p14="http://schemas.microsoft.com/office/powerpoint/2010/main" val="4008407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79425" y="661500"/>
            <a:ext cx="3174300" cy="31963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4102661" y="678533"/>
            <a:ext cx="3012099" cy="56065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7563696" y="944563"/>
            <a:ext cx="2859432" cy="51369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1206601" y="4866083"/>
            <a:ext cx="2141220" cy="565348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lang="zh-CN" altLang="en-US" sz="1400" spc="-7" dirty="0">
                <a:latin typeface="+mn-ea"/>
                <a:cs typeface="Arial"/>
              </a:rPr>
              <a:t>其他层</a:t>
            </a:r>
            <a:r>
              <a:rPr sz="1400" spc="-7" dirty="0">
                <a:latin typeface="+mn-ea"/>
                <a:cs typeface="Arial"/>
              </a:rPr>
              <a:t>:  Dropout, Linear,  Normalization</a:t>
            </a:r>
            <a:r>
              <a:rPr sz="1400" spc="-113" dirty="0">
                <a:latin typeface="+mn-ea"/>
                <a:cs typeface="Arial"/>
              </a:rPr>
              <a:t> </a:t>
            </a:r>
            <a:r>
              <a:rPr sz="1400" spc="-7" dirty="0">
                <a:latin typeface="+mn-ea"/>
                <a:cs typeface="Arial"/>
              </a:rPr>
              <a:t>Layer</a:t>
            </a:r>
            <a:endParaRPr sz="1400" dirty="0">
              <a:latin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29777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F36AA8D-C796-427D-9118-947AEA19A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099" y="1360209"/>
            <a:ext cx="11075437" cy="4819167"/>
          </a:xfrm>
        </p:spPr>
        <p:txBody>
          <a:bodyPr/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zh-CN" altLang="en-US" sz="18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深度学习框架</a:t>
            </a:r>
            <a:r>
              <a:rPr lang="en-US" altLang="zh-CN" sz="1800" b="1" dirty="0" err="1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Pytorch</a:t>
            </a:r>
            <a:r>
              <a:rPr lang="zh-CN" altLang="en-US" sz="18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简介</a:t>
            </a:r>
            <a:endParaRPr lang="en-US" altLang="zh-CN" sz="1800" b="1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en-US" altLang="zh-CN" sz="1800" b="1" dirty="0" err="1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Pytorch</a:t>
            </a:r>
            <a:r>
              <a:rPr lang="zh-CN" altLang="en-US" sz="18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安装</a:t>
            </a:r>
            <a:endParaRPr lang="en-US" altLang="zh-CN" sz="1800" b="1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en-US" altLang="zh-CN" sz="1800" b="1" dirty="0" err="1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Pytorch</a:t>
            </a:r>
            <a:r>
              <a:rPr lang="zh-CN" altLang="en-US" sz="18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的基本组成元素</a:t>
            </a:r>
            <a:endParaRPr lang="en-US" altLang="zh-CN" sz="1800" b="1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en-US" altLang="zh-CN" sz="1800" b="1" dirty="0" err="1">
                <a:solidFill>
                  <a:prstClr val="black"/>
                </a:solidFill>
                <a:latin typeface="+mn-ea"/>
                <a:ea typeface="+mn-ea"/>
              </a:rPr>
              <a:t>Pytorch</a:t>
            </a:r>
            <a:r>
              <a:rPr lang="zh-CN" altLang="en-US" sz="1800" b="1" dirty="0">
                <a:solidFill>
                  <a:prstClr val="black"/>
                </a:solidFill>
                <a:latin typeface="+mn-ea"/>
                <a:ea typeface="+mn-ea"/>
              </a:rPr>
              <a:t>构建神经网络</a:t>
            </a:r>
            <a:endParaRPr lang="en-US" altLang="zh-CN" sz="1800" b="1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None/>
            </a:pPr>
            <a:endParaRPr lang="zh-CN" altLang="en-US" dirty="0"/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63C4D584-B6A1-45E1-87C7-32C8342F69A0}"/>
              </a:ext>
            </a:extLst>
          </p:cNvPr>
          <p:cNvSpPr txBox="1">
            <a:spLocks/>
          </p:cNvSpPr>
          <p:nvPr/>
        </p:nvSpPr>
        <p:spPr>
          <a:xfrm>
            <a:off x="487225" y="486888"/>
            <a:ext cx="2367164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000" dirty="0"/>
              <a:t>课程内容</a:t>
            </a:r>
          </a:p>
        </p:txBody>
      </p:sp>
    </p:spTree>
    <p:extLst>
      <p:ext uri="{BB962C8B-B14F-4D97-AF65-F5344CB8AC3E}">
        <p14:creationId xmlns:p14="http://schemas.microsoft.com/office/powerpoint/2010/main" val="545108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6D61563-7440-4A7F-8528-8281F0262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099" y="4760447"/>
            <a:ext cx="11075437" cy="188777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准备数据：</a:t>
            </a:r>
            <a:r>
              <a:rPr lang="en-US" altLang="zh-CN" sz="1400" dirty="0" err="1"/>
              <a:t>Dataset+DataLoader</a:t>
            </a:r>
            <a:endParaRPr lang="en-US" altLang="zh-CN" sz="1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网络设计：</a:t>
            </a:r>
            <a:r>
              <a:rPr lang="en-US" altLang="zh-CN" sz="1400" dirty="0" err="1"/>
              <a:t>torch.nn.module</a:t>
            </a:r>
            <a:endParaRPr lang="en-US" altLang="zh-CN" sz="1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损失函数：</a:t>
            </a:r>
            <a:r>
              <a:rPr lang="en-US" altLang="zh-CN" sz="1400" dirty="0" err="1"/>
              <a:t>torch.nn.CrossEntropyLoss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torch.nn.MSELoss</a:t>
            </a:r>
            <a:endParaRPr lang="en-US" altLang="zh-CN" sz="1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参数更新：</a:t>
            </a:r>
            <a:r>
              <a:rPr lang="en-US" altLang="zh-CN" sz="1400" dirty="0" err="1"/>
              <a:t>torch.optim</a:t>
            </a:r>
            <a:endParaRPr lang="en-US" altLang="zh-CN" sz="1400" dirty="0"/>
          </a:p>
          <a:p>
            <a:pPr marL="1828800" lvl="4" indent="0">
              <a:lnSpc>
                <a:spcPct val="100000"/>
              </a:lnSpc>
              <a:buNone/>
            </a:pPr>
            <a:r>
              <a:rPr lang="en-US" altLang="zh-CN" sz="1400" dirty="0"/>
              <a:t>optimizer = </a:t>
            </a:r>
            <a:r>
              <a:rPr lang="en-US" altLang="zh-CN" sz="1400" dirty="0" err="1"/>
              <a:t>optim.SGD</a:t>
            </a:r>
            <a:r>
              <a:rPr lang="en-US" altLang="zh-CN" sz="1400" dirty="0"/>
              <a:t>(</a:t>
            </a:r>
            <a:r>
              <a:rPr lang="en-US" altLang="zh-CN" sz="1400" dirty="0" err="1"/>
              <a:t>net.parameters</a:t>
            </a:r>
            <a:r>
              <a:rPr lang="en-US" altLang="zh-CN" sz="1400" dirty="0"/>
              <a:t>(), </a:t>
            </a:r>
            <a:r>
              <a:rPr lang="en-US" altLang="zh-CN" sz="1400" dirty="0" err="1"/>
              <a:t>lr</a:t>
            </a:r>
            <a:r>
              <a:rPr lang="en-US" altLang="zh-CN" sz="1400" dirty="0"/>
              <a:t>=args.lr, momentum=0.9, </a:t>
            </a:r>
            <a:r>
              <a:rPr lang="en-US" altLang="zh-CN" sz="1400" dirty="0" err="1"/>
              <a:t>weight_decay</a:t>
            </a:r>
            <a:r>
              <a:rPr lang="en-US" altLang="zh-CN" sz="1400" dirty="0"/>
              <a:t>=1e-4)</a:t>
            </a:r>
            <a:endParaRPr lang="zh-CN" altLang="en-US" sz="1400" dirty="0"/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3BFC4C21-5941-44B7-AD0F-79B5E6AE5EEF}"/>
              </a:ext>
            </a:extLst>
          </p:cNvPr>
          <p:cNvSpPr/>
          <p:nvPr/>
        </p:nvSpPr>
        <p:spPr>
          <a:xfrm rot="5400000">
            <a:off x="4691209" y="312655"/>
            <a:ext cx="1291033" cy="59400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E5E9F515-1BED-4A64-9AD6-E2A739BF651D}"/>
              </a:ext>
            </a:extLst>
          </p:cNvPr>
          <p:cNvSpPr/>
          <p:nvPr/>
        </p:nvSpPr>
        <p:spPr>
          <a:xfrm rot="5400000">
            <a:off x="4863567" y="1255543"/>
            <a:ext cx="111125" cy="5638847"/>
          </a:xfrm>
          <a:custGeom>
            <a:avLst/>
            <a:gdLst/>
            <a:ahLst/>
            <a:cxnLst/>
            <a:rect l="l" t="t" r="r" b="b"/>
            <a:pathLst>
              <a:path w="111125" h="3528695">
                <a:moveTo>
                  <a:pt x="10667" y="3422472"/>
                </a:moveTo>
                <a:lnTo>
                  <a:pt x="6095" y="3425126"/>
                </a:lnTo>
                <a:lnTo>
                  <a:pt x="1650" y="3427780"/>
                </a:lnTo>
                <a:lnTo>
                  <a:pt x="0" y="3433610"/>
                </a:lnTo>
                <a:lnTo>
                  <a:pt x="55371" y="3528453"/>
                </a:lnTo>
                <a:lnTo>
                  <a:pt x="66357" y="3509632"/>
                </a:lnTo>
                <a:lnTo>
                  <a:pt x="45846" y="3509632"/>
                </a:lnTo>
                <a:lnTo>
                  <a:pt x="45846" y="3474285"/>
                </a:lnTo>
                <a:lnTo>
                  <a:pt x="16509" y="3424008"/>
                </a:lnTo>
                <a:lnTo>
                  <a:pt x="10667" y="3422472"/>
                </a:lnTo>
                <a:close/>
              </a:path>
              <a:path w="111125" h="3528695">
                <a:moveTo>
                  <a:pt x="45846" y="3474285"/>
                </a:moveTo>
                <a:lnTo>
                  <a:pt x="45846" y="3509632"/>
                </a:lnTo>
                <a:lnTo>
                  <a:pt x="64896" y="3509632"/>
                </a:lnTo>
                <a:lnTo>
                  <a:pt x="64896" y="3504755"/>
                </a:lnTo>
                <a:lnTo>
                  <a:pt x="47117" y="3504755"/>
                </a:lnTo>
                <a:lnTo>
                  <a:pt x="55371" y="3490608"/>
                </a:lnTo>
                <a:lnTo>
                  <a:pt x="45846" y="3474285"/>
                </a:lnTo>
                <a:close/>
              </a:path>
              <a:path w="111125" h="3528695">
                <a:moveTo>
                  <a:pt x="100075" y="3422472"/>
                </a:moveTo>
                <a:lnTo>
                  <a:pt x="94233" y="3424008"/>
                </a:lnTo>
                <a:lnTo>
                  <a:pt x="64896" y="3474285"/>
                </a:lnTo>
                <a:lnTo>
                  <a:pt x="64896" y="3509632"/>
                </a:lnTo>
                <a:lnTo>
                  <a:pt x="66357" y="3509632"/>
                </a:lnTo>
                <a:lnTo>
                  <a:pt x="110743" y="3433610"/>
                </a:lnTo>
                <a:lnTo>
                  <a:pt x="109219" y="3427780"/>
                </a:lnTo>
                <a:lnTo>
                  <a:pt x="100075" y="3422472"/>
                </a:lnTo>
                <a:close/>
              </a:path>
              <a:path w="111125" h="3528695">
                <a:moveTo>
                  <a:pt x="55371" y="3490608"/>
                </a:moveTo>
                <a:lnTo>
                  <a:pt x="47117" y="3504755"/>
                </a:lnTo>
                <a:lnTo>
                  <a:pt x="63626" y="3504755"/>
                </a:lnTo>
                <a:lnTo>
                  <a:pt x="55371" y="3490608"/>
                </a:lnTo>
                <a:close/>
              </a:path>
              <a:path w="111125" h="3528695">
                <a:moveTo>
                  <a:pt x="64896" y="3474285"/>
                </a:moveTo>
                <a:lnTo>
                  <a:pt x="55371" y="3490608"/>
                </a:lnTo>
                <a:lnTo>
                  <a:pt x="63626" y="3504755"/>
                </a:lnTo>
                <a:lnTo>
                  <a:pt x="64896" y="3504755"/>
                </a:lnTo>
                <a:lnTo>
                  <a:pt x="64896" y="3474285"/>
                </a:lnTo>
                <a:close/>
              </a:path>
              <a:path w="111125" h="3528695">
                <a:moveTo>
                  <a:pt x="64896" y="0"/>
                </a:moveTo>
                <a:lnTo>
                  <a:pt x="45846" y="0"/>
                </a:lnTo>
                <a:lnTo>
                  <a:pt x="45846" y="3474285"/>
                </a:lnTo>
                <a:lnTo>
                  <a:pt x="55371" y="3490608"/>
                </a:lnTo>
                <a:lnTo>
                  <a:pt x="64896" y="3474285"/>
                </a:lnTo>
                <a:lnTo>
                  <a:pt x="6489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800" dirty="0"/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248E3E37-C93F-424F-AEC1-B04EF4F48D83}"/>
              </a:ext>
            </a:extLst>
          </p:cNvPr>
          <p:cNvSpPr/>
          <p:nvPr/>
        </p:nvSpPr>
        <p:spPr>
          <a:xfrm rot="5400000">
            <a:off x="4863569" y="-320689"/>
            <a:ext cx="111125" cy="5638849"/>
          </a:xfrm>
          <a:custGeom>
            <a:avLst/>
            <a:gdLst/>
            <a:ahLst/>
            <a:cxnLst/>
            <a:rect l="l" t="t" r="r" b="b"/>
            <a:pathLst>
              <a:path w="111125" h="3528695">
                <a:moveTo>
                  <a:pt x="55308" y="37664"/>
                </a:moveTo>
                <a:lnTo>
                  <a:pt x="45719" y="54101"/>
                </a:lnTo>
                <a:lnTo>
                  <a:pt x="45719" y="3528415"/>
                </a:lnTo>
                <a:lnTo>
                  <a:pt x="64769" y="3528415"/>
                </a:lnTo>
                <a:lnTo>
                  <a:pt x="64769" y="53884"/>
                </a:lnTo>
                <a:lnTo>
                  <a:pt x="55308" y="37664"/>
                </a:lnTo>
                <a:close/>
              </a:path>
              <a:path w="111125" h="3528695">
                <a:moveTo>
                  <a:pt x="55244" y="0"/>
                </a:moveTo>
                <a:lnTo>
                  <a:pt x="0" y="94868"/>
                </a:lnTo>
                <a:lnTo>
                  <a:pt x="1524" y="100711"/>
                </a:lnTo>
                <a:lnTo>
                  <a:pt x="6095" y="103250"/>
                </a:lnTo>
                <a:lnTo>
                  <a:pt x="10541" y="105917"/>
                </a:lnTo>
                <a:lnTo>
                  <a:pt x="16382" y="104393"/>
                </a:lnTo>
                <a:lnTo>
                  <a:pt x="45719" y="54101"/>
                </a:lnTo>
                <a:lnTo>
                  <a:pt x="45719" y="18795"/>
                </a:lnTo>
                <a:lnTo>
                  <a:pt x="66215" y="18795"/>
                </a:lnTo>
                <a:lnTo>
                  <a:pt x="55244" y="0"/>
                </a:lnTo>
                <a:close/>
              </a:path>
              <a:path w="111125" h="3528695">
                <a:moveTo>
                  <a:pt x="66215" y="18795"/>
                </a:moveTo>
                <a:lnTo>
                  <a:pt x="64769" y="18795"/>
                </a:lnTo>
                <a:lnTo>
                  <a:pt x="64769" y="53884"/>
                </a:lnTo>
                <a:lnTo>
                  <a:pt x="91567" y="99821"/>
                </a:lnTo>
                <a:lnTo>
                  <a:pt x="94106" y="104393"/>
                </a:lnTo>
                <a:lnTo>
                  <a:pt x="99949" y="105917"/>
                </a:lnTo>
                <a:lnTo>
                  <a:pt x="104520" y="103250"/>
                </a:lnTo>
                <a:lnTo>
                  <a:pt x="109093" y="100711"/>
                </a:lnTo>
                <a:lnTo>
                  <a:pt x="110617" y="94868"/>
                </a:lnTo>
                <a:lnTo>
                  <a:pt x="66215" y="18795"/>
                </a:lnTo>
                <a:close/>
              </a:path>
              <a:path w="111125" h="3528695">
                <a:moveTo>
                  <a:pt x="64769" y="18795"/>
                </a:moveTo>
                <a:lnTo>
                  <a:pt x="45719" y="18795"/>
                </a:lnTo>
                <a:lnTo>
                  <a:pt x="45719" y="54101"/>
                </a:lnTo>
                <a:lnTo>
                  <a:pt x="55308" y="37664"/>
                </a:lnTo>
                <a:lnTo>
                  <a:pt x="47117" y="23621"/>
                </a:lnTo>
                <a:lnTo>
                  <a:pt x="64769" y="23621"/>
                </a:lnTo>
                <a:lnTo>
                  <a:pt x="64769" y="18795"/>
                </a:lnTo>
                <a:close/>
              </a:path>
              <a:path w="111125" h="3528695">
                <a:moveTo>
                  <a:pt x="64769" y="23621"/>
                </a:moveTo>
                <a:lnTo>
                  <a:pt x="63500" y="23621"/>
                </a:lnTo>
                <a:lnTo>
                  <a:pt x="55308" y="37664"/>
                </a:lnTo>
                <a:lnTo>
                  <a:pt x="64769" y="53884"/>
                </a:lnTo>
                <a:lnTo>
                  <a:pt x="64769" y="23621"/>
                </a:lnTo>
                <a:close/>
              </a:path>
              <a:path w="111125" h="3528695">
                <a:moveTo>
                  <a:pt x="63500" y="23621"/>
                </a:moveTo>
                <a:lnTo>
                  <a:pt x="47117" y="23621"/>
                </a:lnTo>
                <a:lnTo>
                  <a:pt x="55308" y="37664"/>
                </a:lnTo>
                <a:lnTo>
                  <a:pt x="63500" y="23621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69EB700E-DCDD-4FA0-8C96-F0F2E9740138}"/>
              </a:ext>
            </a:extLst>
          </p:cNvPr>
          <p:cNvSpPr txBox="1"/>
          <p:nvPr/>
        </p:nvSpPr>
        <p:spPr>
          <a:xfrm>
            <a:off x="487225" y="3303209"/>
            <a:ext cx="192894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600" spc="-5" dirty="0">
                <a:solidFill>
                  <a:srgbClr val="FF0000"/>
                </a:solidFill>
                <a:latin typeface="Franklin Gothic Book"/>
                <a:cs typeface="Franklin Gothic Book"/>
              </a:rPr>
              <a:t>准备数据</a:t>
            </a:r>
            <a:r>
              <a:rPr sz="1600" spc="-75" dirty="0">
                <a:solidFill>
                  <a:srgbClr val="FF0000"/>
                </a:solidFill>
                <a:latin typeface="Franklin Gothic Book"/>
                <a:cs typeface="Franklin Gothic Book"/>
              </a:rPr>
              <a:t> </a:t>
            </a:r>
            <a:r>
              <a:rPr dirty="0">
                <a:latin typeface="Franklin Gothic Book"/>
                <a:cs typeface="Franklin Gothic Book"/>
              </a:rPr>
              <a:t>→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02E668C-7E91-4630-A345-34E4C4F8A369}"/>
              </a:ext>
            </a:extLst>
          </p:cNvPr>
          <p:cNvSpPr txBox="1"/>
          <p:nvPr/>
        </p:nvSpPr>
        <p:spPr>
          <a:xfrm>
            <a:off x="4054039" y="1954957"/>
            <a:ext cx="2664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设计网络</a:t>
            </a:r>
            <a:r>
              <a:rPr lang="en-US" altLang="zh-CN" sz="1600" dirty="0"/>
              <a:t>(</a:t>
            </a:r>
            <a:r>
              <a:rPr lang="zh-CN" altLang="en-US" sz="1600" dirty="0"/>
              <a:t>前向传播</a:t>
            </a:r>
            <a:r>
              <a:rPr lang="en-US" altLang="zh-CN" sz="1600" dirty="0"/>
              <a:t>)</a:t>
            </a:r>
            <a:endParaRPr lang="zh-CN" altLang="en-US" sz="16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10D0076-3827-487C-9B3A-BA556491AC92}"/>
              </a:ext>
            </a:extLst>
          </p:cNvPr>
          <p:cNvSpPr txBox="1"/>
          <p:nvPr/>
        </p:nvSpPr>
        <p:spPr>
          <a:xfrm>
            <a:off x="4063443" y="4106721"/>
            <a:ext cx="3628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反向传播，更新参数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BF837C5-795B-4E63-86FD-26C4134D0E60}"/>
              </a:ext>
            </a:extLst>
          </p:cNvPr>
          <p:cNvSpPr/>
          <p:nvPr/>
        </p:nvSpPr>
        <p:spPr>
          <a:xfrm>
            <a:off x="8874318" y="3115468"/>
            <a:ext cx="273030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设计损失函数（计算</a:t>
            </a:r>
            <a:r>
              <a:rPr lang="en-US" altLang="zh-CN" sz="1600" dirty="0">
                <a:solidFill>
                  <a:srgbClr val="FF0000"/>
                </a:solidFill>
              </a:rPr>
              <a:t>loss</a:t>
            </a:r>
            <a:r>
              <a:rPr lang="zh-CN" altLang="en-US" sz="1600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11" name="标题 2">
            <a:extLst>
              <a:ext uri="{FF2B5EF4-FFF2-40B4-BE49-F238E27FC236}">
                <a16:creationId xmlns:a16="http://schemas.microsoft.com/office/drawing/2014/main" id="{1D034450-EB44-4E68-8038-6EEDF98C7494}"/>
              </a:ext>
            </a:extLst>
          </p:cNvPr>
          <p:cNvSpPr txBox="1">
            <a:spLocks/>
          </p:cNvSpPr>
          <p:nvPr/>
        </p:nvSpPr>
        <p:spPr>
          <a:xfrm>
            <a:off x="487224" y="486888"/>
            <a:ext cx="5608775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000" dirty="0" err="1"/>
              <a:t>Pytorch</a:t>
            </a:r>
            <a:r>
              <a:rPr lang="en-US" altLang="zh-CN" sz="2000" dirty="0"/>
              <a:t> </a:t>
            </a:r>
            <a:r>
              <a:rPr lang="zh-CN" altLang="en-US" sz="2000" dirty="0"/>
              <a:t>构建神经网络</a:t>
            </a:r>
          </a:p>
        </p:txBody>
      </p:sp>
    </p:spTree>
    <p:extLst>
      <p:ext uri="{BB962C8B-B14F-4D97-AF65-F5344CB8AC3E}">
        <p14:creationId xmlns:p14="http://schemas.microsoft.com/office/powerpoint/2010/main" val="31009393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B0386B5-EEE1-4B6A-A4A5-258229EE1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099" y="1253417"/>
            <a:ext cx="11075437" cy="481916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/>
              <a:t>why use Dataset </a:t>
            </a:r>
            <a:r>
              <a:rPr lang="en-US" altLang="zh-CN" sz="1400" dirty="0" err="1"/>
              <a:t>Dataloader</a:t>
            </a:r>
            <a:r>
              <a:rPr lang="zh-CN" altLang="en-US" sz="1400" dirty="0"/>
              <a:t>？</a:t>
            </a:r>
            <a:endParaRPr lang="en-US" altLang="zh-CN" sz="1400" dirty="0"/>
          </a:p>
          <a:p>
            <a:pPr lvl="1">
              <a:lnSpc>
                <a:spcPct val="200000"/>
              </a:lnSpc>
            </a:pPr>
            <a:r>
              <a:rPr lang="zh-CN" altLang="en-US" sz="1400" dirty="0"/>
              <a:t>可以快速、提前提取数据到内存中</a:t>
            </a:r>
            <a:endParaRPr lang="en-US" altLang="zh-CN" sz="1400" dirty="0"/>
          </a:p>
          <a:p>
            <a:pPr lvl="1">
              <a:lnSpc>
                <a:spcPct val="200000"/>
              </a:lnSpc>
            </a:pPr>
            <a:r>
              <a:rPr lang="zh-CN" altLang="en-US" sz="1400" dirty="0"/>
              <a:t>提供框架，只需写核心函数</a:t>
            </a:r>
            <a:endParaRPr lang="en-US" altLang="zh-CN" sz="1400" dirty="0"/>
          </a:p>
          <a:p>
            <a:pPr lvl="1">
              <a:lnSpc>
                <a:spcPct val="200000"/>
              </a:lnSpc>
            </a:pPr>
            <a:r>
              <a:rPr lang="zh-CN" altLang="en-US" sz="1400" dirty="0"/>
              <a:t>提供多种数据曾广支持</a:t>
            </a:r>
            <a:endParaRPr lang="en-US" altLang="zh-CN" sz="1400" dirty="0"/>
          </a:p>
          <a:p>
            <a:pPr lvl="1"/>
            <a:endParaRPr lang="en-US" altLang="zh-CN" sz="2000" dirty="0"/>
          </a:p>
          <a:p>
            <a:pPr marL="0" indent="0">
              <a:buNone/>
            </a:pPr>
            <a:endParaRPr lang="zh-CN" altLang="en-US" sz="1800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E8F7B7A3-0A79-43B8-B514-ADA730A4787A}"/>
              </a:ext>
            </a:extLst>
          </p:cNvPr>
          <p:cNvSpPr/>
          <p:nvPr/>
        </p:nvSpPr>
        <p:spPr>
          <a:xfrm>
            <a:off x="4160314" y="3109581"/>
            <a:ext cx="3871608" cy="3123187"/>
          </a:xfrm>
          <a:prstGeom prst="rect">
            <a:avLst/>
          </a:prstGeom>
          <a:blipFill>
            <a:blip r:embed="rId2" cstate="print"/>
            <a:stretch>
              <a:fillRect l="-25041" t="-12672" r="-65399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2BA231-596E-4970-B578-62EF1EA7F6EE}"/>
              </a:ext>
            </a:extLst>
          </p:cNvPr>
          <p:cNvSpPr txBox="1"/>
          <p:nvPr/>
        </p:nvSpPr>
        <p:spPr>
          <a:xfrm>
            <a:off x="8100017" y="3985072"/>
            <a:ext cx="1410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数据在这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6A44E29-C238-407B-8C1D-33EA518A95FC}"/>
              </a:ext>
            </a:extLst>
          </p:cNvPr>
          <p:cNvSpPr txBox="1"/>
          <p:nvPr/>
        </p:nvSpPr>
        <p:spPr>
          <a:xfrm>
            <a:off x="2979261" y="4169738"/>
            <a:ext cx="1410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模型在这</a:t>
            </a: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7BC9ADD6-4FAD-49BE-9BC5-196AC8830691}"/>
              </a:ext>
            </a:extLst>
          </p:cNvPr>
          <p:cNvSpPr txBox="1">
            <a:spLocks/>
          </p:cNvSpPr>
          <p:nvPr/>
        </p:nvSpPr>
        <p:spPr>
          <a:xfrm>
            <a:off x="487224" y="486888"/>
            <a:ext cx="5608775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000" dirty="0" err="1"/>
              <a:t>Pytorch</a:t>
            </a:r>
            <a:r>
              <a:rPr lang="en-US" altLang="zh-CN" sz="2000" dirty="0"/>
              <a:t>—</a:t>
            </a:r>
            <a:r>
              <a:rPr lang="zh-CN" altLang="en-US" sz="2000" dirty="0"/>
              <a:t>数据准备</a:t>
            </a:r>
          </a:p>
        </p:txBody>
      </p:sp>
    </p:spTree>
    <p:extLst>
      <p:ext uri="{BB962C8B-B14F-4D97-AF65-F5344CB8AC3E}">
        <p14:creationId xmlns:p14="http://schemas.microsoft.com/office/powerpoint/2010/main" val="17066971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B0386B5-EEE1-4B6A-A4A5-258229EE1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099" y="1253421"/>
            <a:ext cx="11075437" cy="481916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/>
              <a:t>why use Dataset </a:t>
            </a:r>
            <a:r>
              <a:rPr lang="en-US" altLang="zh-CN" sz="1400" dirty="0" err="1"/>
              <a:t>Dataloader</a:t>
            </a:r>
            <a:r>
              <a:rPr lang="zh-CN" altLang="en-US" sz="1400" dirty="0"/>
              <a:t>？</a:t>
            </a:r>
            <a:endParaRPr lang="en-US" altLang="zh-CN" sz="1400" dirty="0"/>
          </a:p>
          <a:p>
            <a:pPr lvl="1">
              <a:lnSpc>
                <a:spcPct val="200000"/>
              </a:lnSpc>
            </a:pPr>
            <a:r>
              <a:rPr lang="zh-CN" altLang="en-US" sz="1400" dirty="0"/>
              <a:t>可以快速、提前提取数据到内存中</a:t>
            </a:r>
            <a:endParaRPr lang="en-US" altLang="zh-CN" sz="1400" dirty="0"/>
          </a:p>
          <a:p>
            <a:pPr lvl="1">
              <a:lnSpc>
                <a:spcPct val="200000"/>
              </a:lnSpc>
            </a:pPr>
            <a:r>
              <a:rPr lang="zh-CN" altLang="en-US" sz="1400" dirty="0"/>
              <a:t>提供框架，只需写核心函数</a:t>
            </a:r>
            <a:endParaRPr lang="en-US" altLang="zh-CN" sz="1400" dirty="0"/>
          </a:p>
          <a:p>
            <a:pPr lvl="1">
              <a:lnSpc>
                <a:spcPct val="200000"/>
              </a:lnSpc>
            </a:pPr>
            <a:r>
              <a:rPr lang="zh-CN" altLang="en-US" sz="1400" dirty="0"/>
              <a:t>提供多种数据曾广支持</a:t>
            </a:r>
            <a:endParaRPr lang="en-US" altLang="zh-CN" sz="14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/>
              <a:t>How use</a:t>
            </a:r>
            <a:r>
              <a:rPr lang="zh-CN" altLang="en-US" sz="1400" dirty="0"/>
              <a:t>？</a:t>
            </a:r>
            <a:r>
              <a:rPr lang="en-US" altLang="zh-CN" sz="1400" dirty="0"/>
              <a:t>	</a:t>
            </a:r>
          </a:p>
          <a:p>
            <a:pPr lvl="1"/>
            <a:endParaRPr lang="en-US" altLang="zh-CN" sz="1400" dirty="0"/>
          </a:p>
          <a:p>
            <a:pPr marL="0" indent="0">
              <a:buNone/>
            </a:pPr>
            <a:endParaRPr lang="zh-CN" altLang="en-US" sz="1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088CD17-A202-4EE8-9FB2-3483E87EE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885" y="3573463"/>
            <a:ext cx="7727365" cy="3201876"/>
          </a:xfrm>
          <a:prstGeom prst="rect">
            <a:avLst/>
          </a:prstGeom>
        </p:spPr>
      </p:pic>
      <p:sp>
        <p:nvSpPr>
          <p:cNvPr id="7" name="标题 2">
            <a:extLst>
              <a:ext uri="{FF2B5EF4-FFF2-40B4-BE49-F238E27FC236}">
                <a16:creationId xmlns:a16="http://schemas.microsoft.com/office/drawing/2014/main" id="{532B0E8D-39FD-4272-96A5-4F22E4C469A2}"/>
              </a:ext>
            </a:extLst>
          </p:cNvPr>
          <p:cNvSpPr txBox="1">
            <a:spLocks/>
          </p:cNvSpPr>
          <p:nvPr/>
        </p:nvSpPr>
        <p:spPr>
          <a:xfrm>
            <a:off x="487224" y="486888"/>
            <a:ext cx="5608775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000" dirty="0" err="1"/>
              <a:t>Pytorch</a:t>
            </a:r>
            <a:r>
              <a:rPr lang="en-US" altLang="zh-CN" sz="2000" dirty="0"/>
              <a:t>—</a:t>
            </a:r>
            <a:r>
              <a:rPr lang="zh-CN" altLang="en-US" sz="2000" dirty="0"/>
              <a:t>数据准备</a:t>
            </a:r>
          </a:p>
        </p:txBody>
      </p:sp>
    </p:spTree>
    <p:extLst>
      <p:ext uri="{BB962C8B-B14F-4D97-AF65-F5344CB8AC3E}">
        <p14:creationId xmlns:p14="http://schemas.microsoft.com/office/powerpoint/2010/main" val="103329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6D61563-7440-4A7F-8528-8281F0262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224" y="1343904"/>
            <a:ext cx="10781413" cy="437744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/>
              <a:t>Module </a:t>
            </a:r>
            <a:r>
              <a:rPr lang="zh-CN" altLang="en-US" sz="1400" dirty="0"/>
              <a:t>是 </a:t>
            </a:r>
            <a:r>
              <a:rPr lang="en-US" altLang="zh-CN" sz="1400" dirty="0" err="1"/>
              <a:t>pytorch</a:t>
            </a:r>
            <a:r>
              <a:rPr lang="en-US" altLang="zh-CN" sz="1400" dirty="0"/>
              <a:t> </a:t>
            </a:r>
            <a:r>
              <a:rPr lang="zh-CN" altLang="en-US" sz="1400" dirty="0"/>
              <a:t>提供的一个基类，每次我们要 搭建 自己的神经网络的时候都要继承这个类</a:t>
            </a:r>
            <a:endParaRPr lang="en-US" altLang="zh-CN" sz="14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1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主要函数：</a:t>
            </a:r>
            <a:endParaRPr lang="en-US" altLang="zh-CN" sz="1400" dirty="0"/>
          </a:p>
          <a:p>
            <a:pPr lvl="1">
              <a:lnSpc>
                <a:spcPct val="150000"/>
              </a:lnSpc>
            </a:pPr>
            <a:r>
              <a:rPr lang="en-US" altLang="zh-CN" sz="1400" dirty="0"/>
              <a:t>def __</a:t>
            </a:r>
            <a:r>
              <a:rPr lang="en-US" altLang="zh-CN" sz="1400" dirty="0" err="1"/>
              <a:t>init</a:t>
            </a:r>
            <a:r>
              <a:rPr lang="en-US" altLang="zh-CN" sz="1400" dirty="0"/>
              <a:t>__(self):   #</a:t>
            </a:r>
            <a:r>
              <a:rPr lang="zh-CN" altLang="en-US" sz="1400" dirty="0"/>
              <a:t>初始化网络所用的神经网络层</a:t>
            </a:r>
            <a:endParaRPr lang="en-US" altLang="zh-CN" sz="1400" dirty="0"/>
          </a:p>
          <a:p>
            <a:pPr lvl="1">
              <a:lnSpc>
                <a:spcPct val="150000"/>
              </a:lnSpc>
            </a:pPr>
            <a:r>
              <a:rPr lang="en-US" altLang="zh-CN" sz="1400" dirty="0"/>
              <a:t>def forward(self, x):  #</a:t>
            </a:r>
            <a:r>
              <a:rPr lang="zh-CN" altLang="en-US" sz="1400" dirty="0"/>
              <a:t>网络的前向过程</a:t>
            </a:r>
            <a:endParaRPr lang="en-US" altLang="zh-CN" sz="1400" dirty="0"/>
          </a:p>
          <a:p>
            <a:pPr lvl="1">
              <a:lnSpc>
                <a:spcPct val="150000"/>
              </a:lnSpc>
            </a:pP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def backward(self, x): #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自动计算</a:t>
            </a:r>
            <a:endParaRPr lang="en-US" altLang="zh-CN" sz="1400" dirty="0">
              <a:solidFill>
                <a:schemeClr val="bg1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endParaRPr lang="en-US" altLang="zh-CN" sz="14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实例展示（</a:t>
            </a:r>
            <a:r>
              <a:rPr lang="en-US" altLang="zh-CN" sz="1400" dirty="0" err="1"/>
              <a:t>lenet,vgg,resnet</a:t>
            </a:r>
            <a:r>
              <a:rPr lang="zh-CN" altLang="en-US" sz="1400" dirty="0"/>
              <a:t>）</a:t>
            </a:r>
            <a:endParaRPr lang="en-US" altLang="zh-CN" sz="1400" dirty="0"/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4E8DEF56-2DEC-4D25-AD05-DDE3DFECD0B8}"/>
              </a:ext>
            </a:extLst>
          </p:cNvPr>
          <p:cNvSpPr/>
          <p:nvPr/>
        </p:nvSpPr>
        <p:spPr>
          <a:xfrm>
            <a:off x="6096000" y="2057487"/>
            <a:ext cx="5143352" cy="41024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标题 2">
            <a:extLst>
              <a:ext uri="{FF2B5EF4-FFF2-40B4-BE49-F238E27FC236}">
                <a16:creationId xmlns:a16="http://schemas.microsoft.com/office/drawing/2014/main" id="{41CC76A4-0581-4A33-AF24-805524B12A55}"/>
              </a:ext>
            </a:extLst>
          </p:cNvPr>
          <p:cNvSpPr txBox="1">
            <a:spLocks/>
          </p:cNvSpPr>
          <p:nvPr/>
        </p:nvSpPr>
        <p:spPr>
          <a:xfrm>
            <a:off x="487224" y="486888"/>
            <a:ext cx="5608775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000" dirty="0"/>
              <a:t>module—</a:t>
            </a:r>
            <a:r>
              <a:rPr lang="zh-CN" altLang="en-US" sz="2000" dirty="0"/>
              <a:t>神经网络</a:t>
            </a:r>
          </a:p>
        </p:txBody>
      </p:sp>
    </p:spTree>
    <p:extLst>
      <p:ext uri="{BB962C8B-B14F-4D97-AF65-F5344CB8AC3E}">
        <p14:creationId xmlns:p14="http://schemas.microsoft.com/office/powerpoint/2010/main" val="33074202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18F18F0-45A4-4E40-8CB6-76EFF1DCC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90" y="1453645"/>
            <a:ext cx="11075437" cy="48191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1400" dirty="0"/>
              <a:t>保存模型</a:t>
            </a:r>
            <a:endParaRPr lang="en-US" altLang="zh-CN" sz="1400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1400" dirty="0"/>
              <a:t>加载训练好的模型</a:t>
            </a:r>
            <a:endParaRPr lang="en-US" altLang="zh-CN" sz="1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55CF32-0C81-4960-B7AC-1B75D0806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577" y="2312793"/>
            <a:ext cx="8814843" cy="4058319"/>
          </a:xfrm>
          <a:prstGeom prst="rect">
            <a:avLst/>
          </a:prstGeom>
        </p:spPr>
      </p:pic>
      <p:sp>
        <p:nvSpPr>
          <p:cNvPr id="6" name="标题 2">
            <a:extLst>
              <a:ext uri="{FF2B5EF4-FFF2-40B4-BE49-F238E27FC236}">
                <a16:creationId xmlns:a16="http://schemas.microsoft.com/office/drawing/2014/main" id="{7AEE7C28-DC00-4BA1-B506-34388758E9AF}"/>
              </a:ext>
            </a:extLst>
          </p:cNvPr>
          <p:cNvSpPr txBox="1">
            <a:spLocks/>
          </p:cNvSpPr>
          <p:nvPr/>
        </p:nvSpPr>
        <p:spPr>
          <a:xfrm>
            <a:off x="487224" y="486888"/>
            <a:ext cx="5608775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000" dirty="0"/>
              <a:t>网络模型</a:t>
            </a:r>
          </a:p>
        </p:txBody>
      </p:sp>
    </p:spTree>
    <p:extLst>
      <p:ext uri="{BB962C8B-B14F-4D97-AF65-F5344CB8AC3E}">
        <p14:creationId xmlns:p14="http://schemas.microsoft.com/office/powerpoint/2010/main" val="3324643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F99A5C6-E2B9-46A1-BB4F-6917F5D43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224" y="1460790"/>
            <a:ext cx="11075437" cy="48191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1400" dirty="0"/>
              <a:t>模型优化</a:t>
            </a:r>
            <a:endParaRPr lang="en-US" altLang="zh-CN" sz="1400" dirty="0"/>
          </a:p>
          <a:p>
            <a:pPr>
              <a:buFont typeface="Wingdings" panose="05000000000000000000" pitchFamily="2" charset="2"/>
              <a:buChar char="p"/>
            </a:pPr>
            <a:endParaRPr lang="en-US" altLang="zh-CN" sz="1400" dirty="0"/>
          </a:p>
          <a:p>
            <a:pPr>
              <a:buFont typeface="Wingdings" panose="05000000000000000000" pitchFamily="2" charset="2"/>
              <a:buChar char="p"/>
            </a:pPr>
            <a:endParaRPr lang="en-US" altLang="zh-CN" sz="1400" dirty="0"/>
          </a:p>
          <a:p>
            <a:pPr>
              <a:buFont typeface="Wingdings" panose="05000000000000000000" pitchFamily="2" charset="2"/>
              <a:buChar char="p"/>
            </a:pPr>
            <a:endParaRPr lang="en-US" altLang="zh-CN" sz="1400" dirty="0"/>
          </a:p>
          <a:p>
            <a:pPr>
              <a:buFont typeface="Wingdings" panose="05000000000000000000" pitchFamily="2" charset="2"/>
              <a:buChar char="p"/>
            </a:pPr>
            <a:endParaRPr lang="en-US" altLang="zh-CN" sz="1400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1400" dirty="0"/>
              <a:t>学习率调整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2B165ED-3049-448D-80A4-3ECEC6D9F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327" y="4418617"/>
            <a:ext cx="6838950" cy="17621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75523D0-3DA0-4514-A55B-1DF3331FB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327" y="1665288"/>
            <a:ext cx="7553325" cy="2371725"/>
          </a:xfrm>
          <a:prstGeom prst="rect">
            <a:avLst/>
          </a:prstGeom>
        </p:spPr>
      </p:pic>
      <p:sp>
        <p:nvSpPr>
          <p:cNvPr id="8" name="标题 2">
            <a:extLst>
              <a:ext uri="{FF2B5EF4-FFF2-40B4-BE49-F238E27FC236}">
                <a16:creationId xmlns:a16="http://schemas.microsoft.com/office/drawing/2014/main" id="{ACDC788F-C23F-410B-93C1-73118B1D443E}"/>
              </a:ext>
            </a:extLst>
          </p:cNvPr>
          <p:cNvSpPr txBox="1">
            <a:spLocks/>
          </p:cNvSpPr>
          <p:nvPr/>
        </p:nvSpPr>
        <p:spPr>
          <a:xfrm>
            <a:off x="487224" y="486888"/>
            <a:ext cx="5608775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000" dirty="0"/>
              <a:t>网络模型</a:t>
            </a:r>
          </a:p>
        </p:txBody>
      </p:sp>
    </p:spTree>
    <p:extLst>
      <p:ext uri="{BB962C8B-B14F-4D97-AF65-F5344CB8AC3E}">
        <p14:creationId xmlns:p14="http://schemas.microsoft.com/office/powerpoint/2010/main" val="2206481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F36AA8D-C796-427D-9118-947AEA19A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099" y="1366882"/>
            <a:ext cx="11075437" cy="4819167"/>
          </a:xfrm>
        </p:spPr>
        <p:txBody>
          <a:bodyPr/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zh-CN" altLang="en-US" sz="1800" b="1" dirty="0">
                <a:solidFill>
                  <a:schemeClr val="bg1">
                    <a:lumMod val="85000"/>
                  </a:schemeClr>
                </a:solidFill>
              </a:rPr>
              <a:t>深度学习框架</a:t>
            </a:r>
            <a:r>
              <a:rPr lang="en-US" altLang="zh-CN" sz="1800" b="1" dirty="0" err="1">
                <a:solidFill>
                  <a:schemeClr val="bg1">
                    <a:lumMod val="85000"/>
                  </a:schemeClr>
                </a:solidFill>
              </a:rPr>
              <a:t>Pytorch</a:t>
            </a:r>
            <a:r>
              <a:rPr lang="zh-CN" altLang="en-US" sz="1800" b="1" dirty="0">
                <a:solidFill>
                  <a:schemeClr val="bg1">
                    <a:lumMod val="85000"/>
                  </a:schemeClr>
                </a:solidFill>
              </a:rPr>
              <a:t>简介</a:t>
            </a:r>
            <a:endParaRPr lang="en-US" altLang="zh-CN" sz="1800" b="1" dirty="0">
              <a:solidFill>
                <a:schemeClr val="bg1">
                  <a:lumMod val="85000"/>
                </a:schemeClr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en-US" altLang="zh-CN" sz="1800" b="1" dirty="0" err="1">
                <a:solidFill>
                  <a:schemeClr val="bg1">
                    <a:lumMod val="85000"/>
                  </a:schemeClr>
                </a:solidFill>
              </a:rPr>
              <a:t>Pytorch</a:t>
            </a:r>
            <a:r>
              <a:rPr lang="zh-CN" altLang="en-US" sz="1800" b="1" dirty="0">
                <a:solidFill>
                  <a:schemeClr val="bg1">
                    <a:lumMod val="85000"/>
                  </a:schemeClr>
                </a:solidFill>
              </a:rPr>
              <a:t>安装</a:t>
            </a:r>
            <a:endParaRPr lang="en-US" altLang="zh-CN" sz="1800" b="1" dirty="0">
              <a:solidFill>
                <a:schemeClr val="bg1">
                  <a:lumMod val="85000"/>
                </a:schemeClr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en-US" altLang="zh-CN" sz="1800" b="1" dirty="0" err="1">
                <a:solidFill>
                  <a:schemeClr val="bg1">
                    <a:lumMod val="85000"/>
                  </a:schemeClr>
                </a:solidFill>
              </a:rPr>
              <a:t>Pytorch</a:t>
            </a:r>
            <a:r>
              <a:rPr lang="zh-CN" altLang="en-US" sz="1800" b="1" dirty="0">
                <a:solidFill>
                  <a:schemeClr val="bg1">
                    <a:lumMod val="85000"/>
                  </a:schemeClr>
                </a:solidFill>
              </a:rPr>
              <a:t>的基本组成元素</a:t>
            </a:r>
            <a:endParaRPr lang="en-US" altLang="zh-CN" sz="1800" b="1" dirty="0">
              <a:solidFill>
                <a:schemeClr val="bg1">
                  <a:lumMod val="85000"/>
                </a:schemeClr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en-US" altLang="zh-CN" sz="1800" b="1" dirty="0" err="1">
                <a:solidFill>
                  <a:schemeClr val="bg1">
                    <a:lumMod val="85000"/>
                  </a:schemeClr>
                </a:solidFill>
              </a:rPr>
              <a:t>Pytorch</a:t>
            </a:r>
            <a:r>
              <a:rPr lang="zh-CN" altLang="en-US" sz="1800" b="1" dirty="0">
                <a:solidFill>
                  <a:schemeClr val="bg1">
                    <a:lumMod val="85000"/>
                  </a:schemeClr>
                </a:solidFill>
              </a:rPr>
              <a:t>构建神经网络</a:t>
            </a:r>
            <a:endParaRPr lang="en-US" altLang="zh-CN" sz="1800" b="1" dirty="0">
              <a:solidFill>
                <a:schemeClr val="bg1">
                  <a:lumMod val="85000"/>
                </a:schemeClr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zh-CN" altLang="en-US" sz="1800" b="1" dirty="0">
                <a:solidFill>
                  <a:prstClr val="black"/>
                </a:solidFill>
              </a:rPr>
              <a:t>进阶部分</a:t>
            </a:r>
            <a:endParaRPr lang="en-US" altLang="zh-CN" sz="1800" b="1" dirty="0">
              <a:solidFill>
                <a:prstClr val="black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None/>
            </a:pPr>
            <a:endParaRPr lang="zh-CN" altLang="en-US" dirty="0"/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F11C8E93-B2C2-4491-9984-39C4CF9ABADE}"/>
              </a:ext>
            </a:extLst>
          </p:cNvPr>
          <p:cNvSpPr txBox="1">
            <a:spLocks/>
          </p:cNvSpPr>
          <p:nvPr/>
        </p:nvSpPr>
        <p:spPr>
          <a:xfrm>
            <a:off x="487225" y="486888"/>
            <a:ext cx="2367164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000" dirty="0"/>
              <a:t>课程内容</a:t>
            </a:r>
          </a:p>
        </p:txBody>
      </p:sp>
    </p:spTree>
    <p:extLst>
      <p:ext uri="{BB962C8B-B14F-4D97-AF65-F5344CB8AC3E}">
        <p14:creationId xmlns:p14="http://schemas.microsoft.com/office/powerpoint/2010/main" val="10116699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0BB3134-BA04-4B6A-A7CE-E77B4E98A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92" y="1280117"/>
            <a:ext cx="11075437" cy="4819167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 多</a:t>
            </a:r>
            <a:r>
              <a:rPr lang="en-US" altLang="zh-CN" sz="1400" dirty="0"/>
              <a:t>GPU</a:t>
            </a:r>
            <a:r>
              <a:rPr lang="zh-CN" altLang="en-US" sz="1400" dirty="0"/>
              <a:t>并行</a:t>
            </a:r>
            <a:endParaRPr lang="en-US" altLang="zh-CN" sz="14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/>
              <a:t> </a:t>
            </a:r>
            <a:r>
              <a:rPr lang="en-US" altLang="zh-CN" sz="1400" dirty="0" err="1"/>
              <a:t>cpp</a:t>
            </a:r>
            <a:r>
              <a:rPr lang="en-US" altLang="zh-CN" sz="1400" dirty="0"/>
              <a:t> extension</a:t>
            </a:r>
            <a:r>
              <a:rPr lang="zh-CN" altLang="en-US" sz="1400" dirty="0"/>
              <a:t>扩展</a:t>
            </a:r>
            <a:endParaRPr lang="en-US" altLang="zh-CN" sz="14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/>
              <a:t> </a:t>
            </a:r>
            <a:r>
              <a:rPr lang="en-US" altLang="zh-CN" sz="1400" dirty="0" err="1"/>
              <a:t>tensorboardX</a:t>
            </a:r>
            <a:r>
              <a:rPr lang="zh-CN" altLang="en-US" sz="1400" dirty="0"/>
              <a:t>可视化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dirty="0"/>
              <a:t>	</a:t>
            </a:r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859E34B7-26F3-4579-8295-C17D13F94F83}"/>
              </a:ext>
            </a:extLst>
          </p:cNvPr>
          <p:cNvSpPr txBox="1">
            <a:spLocks/>
          </p:cNvSpPr>
          <p:nvPr/>
        </p:nvSpPr>
        <p:spPr>
          <a:xfrm>
            <a:off x="487225" y="486888"/>
            <a:ext cx="2367164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000" dirty="0"/>
              <a:t>进阶部分</a:t>
            </a:r>
          </a:p>
        </p:txBody>
      </p:sp>
    </p:spTree>
    <p:extLst>
      <p:ext uri="{BB962C8B-B14F-4D97-AF65-F5344CB8AC3E}">
        <p14:creationId xmlns:p14="http://schemas.microsoft.com/office/powerpoint/2010/main" val="41281277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0BB3134-BA04-4B6A-A7CE-E77B4E98A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225" y="1362846"/>
            <a:ext cx="11075437" cy="481916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 多</a:t>
            </a:r>
            <a:r>
              <a:rPr lang="en-US" altLang="zh-CN" sz="1400" dirty="0"/>
              <a:t>GPU</a:t>
            </a:r>
            <a:r>
              <a:rPr lang="zh-CN" altLang="en-US" sz="1400" dirty="0"/>
              <a:t>并行</a:t>
            </a:r>
            <a:endParaRPr lang="en-US" altLang="zh-CN" sz="1400" dirty="0"/>
          </a:p>
          <a:p>
            <a:pPr lvl="1">
              <a:lnSpc>
                <a:spcPct val="150000"/>
              </a:lnSpc>
            </a:pPr>
            <a:r>
              <a:rPr lang="en-US" altLang="zh-CN" sz="1400" dirty="0" err="1"/>
              <a:t>torch.nn.DataParallel</a:t>
            </a:r>
            <a:endParaRPr lang="en-US" altLang="zh-CN" sz="1400" dirty="0"/>
          </a:p>
          <a:p>
            <a:pPr lvl="1">
              <a:lnSpc>
                <a:spcPct val="150000"/>
              </a:lnSpc>
            </a:pPr>
            <a:r>
              <a:rPr lang="en-US" altLang="zh-CN" sz="1400" dirty="0" err="1"/>
              <a:t>torch.nn.parallel.DistributedDataParallel</a:t>
            </a:r>
            <a:r>
              <a:rPr lang="en-US" altLang="zh-CN" dirty="0"/>
              <a:t>	</a:t>
            </a:r>
          </a:p>
          <a:p>
            <a:pPr marL="457200" lvl="1" indent="0">
              <a:buNone/>
            </a:pP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F6E338D-9152-40C3-89C2-D722C508A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982" y="2912776"/>
            <a:ext cx="5883434" cy="293818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802AB4A-8687-423F-A7FF-5BF17936A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30" y="2912776"/>
            <a:ext cx="3981356" cy="307621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7EEF18F-13D9-4FC6-B2CA-033AFEA16F47}"/>
              </a:ext>
            </a:extLst>
          </p:cNvPr>
          <p:cNvSpPr/>
          <p:nvPr/>
        </p:nvSpPr>
        <p:spPr>
          <a:xfrm>
            <a:off x="6555729" y="6036048"/>
            <a:ext cx="38539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https://pytorch.org/docs/stable/notes/ddp.html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0A955E-5F72-4416-9BEA-F0CAE0B7A8BA}"/>
              </a:ext>
            </a:extLst>
          </p:cNvPr>
          <p:cNvSpPr txBox="1"/>
          <p:nvPr/>
        </p:nvSpPr>
        <p:spPr>
          <a:xfrm>
            <a:off x="2801949" y="6120921"/>
            <a:ext cx="1439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数据并行</a:t>
            </a:r>
          </a:p>
        </p:txBody>
      </p:sp>
      <p:sp>
        <p:nvSpPr>
          <p:cNvPr id="10" name="标题 2">
            <a:extLst>
              <a:ext uri="{FF2B5EF4-FFF2-40B4-BE49-F238E27FC236}">
                <a16:creationId xmlns:a16="http://schemas.microsoft.com/office/drawing/2014/main" id="{2F2BEED6-0005-4444-AE6D-C6DBBD2760C6}"/>
              </a:ext>
            </a:extLst>
          </p:cNvPr>
          <p:cNvSpPr txBox="1">
            <a:spLocks/>
          </p:cNvSpPr>
          <p:nvPr/>
        </p:nvSpPr>
        <p:spPr>
          <a:xfrm>
            <a:off x="487225" y="486888"/>
            <a:ext cx="2367164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000" dirty="0"/>
              <a:t>GPU</a:t>
            </a:r>
            <a:r>
              <a:rPr lang="zh-CN" altLang="en-US" sz="2000" dirty="0"/>
              <a:t>并行</a:t>
            </a:r>
          </a:p>
        </p:txBody>
      </p:sp>
    </p:spTree>
    <p:extLst>
      <p:ext uri="{BB962C8B-B14F-4D97-AF65-F5344CB8AC3E}">
        <p14:creationId xmlns:p14="http://schemas.microsoft.com/office/powerpoint/2010/main" val="1243984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0BB3134-BA04-4B6A-A7CE-E77B4E98A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91" y="1460323"/>
            <a:ext cx="11075437" cy="4819167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1400" dirty="0"/>
              <a:t> </a:t>
            </a:r>
            <a:r>
              <a:rPr lang="en-US" altLang="zh-CN" sz="1400" dirty="0" err="1"/>
              <a:t>torch.nn.DataParallel</a:t>
            </a:r>
            <a:endParaRPr lang="en-US" altLang="zh-CN" sz="1400" dirty="0"/>
          </a:p>
          <a:p>
            <a:pPr marL="0" indent="0">
              <a:buNone/>
            </a:pPr>
            <a:endParaRPr lang="en-US" altLang="zh-CN" dirty="0"/>
          </a:p>
          <a:p>
            <a:pPr lvl="1"/>
            <a:r>
              <a:rPr lang="en-US" altLang="zh-CN" dirty="0" err="1"/>
              <a:t>torch.nn.DataParallel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86ECFD-4553-4DF8-84FB-720A4EB07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62" y="2018165"/>
            <a:ext cx="9925050" cy="55245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B955C736-F651-4F68-96BF-1175F5798CB7}"/>
              </a:ext>
            </a:extLst>
          </p:cNvPr>
          <p:cNvSpPr/>
          <p:nvPr/>
        </p:nvSpPr>
        <p:spPr>
          <a:xfrm>
            <a:off x="486026" y="2717546"/>
            <a:ext cx="8686999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+mn-ea"/>
              </a:rPr>
              <a:t>参数：</a:t>
            </a:r>
            <a:endParaRPr lang="en-US" altLang="zh-CN" sz="1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latin typeface="+mn-ea"/>
              </a:rPr>
              <a:t>module ：要进行并行的 module</a:t>
            </a: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latin typeface="+mn-ea"/>
              </a:rPr>
              <a:t>device_ids : CUDA 列表，默认使用全部 GPU. [0,1,2,3]</a:t>
            </a: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latin typeface="+mn-ea"/>
              </a:rPr>
              <a:t>output_device : 指定输出的 GPU，默认为第一个，即 device_ids[0</a:t>
            </a:r>
            <a:r>
              <a:rPr lang="en-US" altLang="zh-CN" sz="1400" dirty="0">
                <a:latin typeface="+mn-ea"/>
              </a:rPr>
              <a:t>]</a:t>
            </a:r>
          </a:p>
          <a:p>
            <a:pPr lvl="1"/>
            <a:endParaRPr lang="en-US" altLang="zh-CN" sz="20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B9843D-F5E2-4D97-AE6A-42E5B9FB7A3B}"/>
              </a:ext>
            </a:extLst>
          </p:cNvPr>
          <p:cNvSpPr/>
          <p:nvPr/>
        </p:nvSpPr>
        <p:spPr>
          <a:xfrm>
            <a:off x="486026" y="4154861"/>
            <a:ext cx="8686999" cy="2639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+mn-ea"/>
              </a:rPr>
              <a:t>原理：</a:t>
            </a:r>
            <a:endParaRPr lang="en-US" altLang="zh-CN" sz="1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latin typeface="+mn-ea"/>
              </a:rPr>
              <a:t>将模型加载至主设备上，作为 </a:t>
            </a:r>
            <a:r>
              <a:rPr lang="en-US" altLang="zh-CN" sz="1400" dirty="0">
                <a:latin typeface="+mn-ea"/>
              </a:rPr>
              <a:t>controller</a:t>
            </a:r>
            <a:r>
              <a:rPr lang="zh-CN" altLang="en-US" sz="1400" dirty="0">
                <a:latin typeface="+mn-ea"/>
              </a:rPr>
              <a:t>，一般设置为 </a:t>
            </a:r>
            <a:r>
              <a:rPr lang="en-US" altLang="zh-CN" sz="1400" dirty="0">
                <a:latin typeface="+mn-ea"/>
              </a:rPr>
              <a:t>cuda:0</a:t>
            </a:r>
          </a:p>
          <a:p>
            <a:pPr lvl="1"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while:</a:t>
            </a:r>
          </a:p>
          <a:p>
            <a:pPr lvl="1"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    1. </a:t>
            </a:r>
            <a:r>
              <a:rPr lang="zh-CN" altLang="en-US" sz="1400" dirty="0">
                <a:latin typeface="+mn-ea"/>
              </a:rPr>
              <a:t>将 </a:t>
            </a:r>
            <a:r>
              <a:rPr lang="en-US" altLang="zh-CN" sz="1400" dirty="0">
                <a:latin typeface="+mn-ea"/>
              </a:rPr>
              <a:t>controller </a:t>
            </a:r>
            <a:r>
              <a:rPr lang="zh-CN" altLang="en-US" sz="1400" dirty="0">
                <a:latin typeface="+mn-ea"/>
              </a:rPr>
              <a:t>模型复制到每一个指定的 </a:t>
            </a:r>
            <a:r>
              <a:rPr lang="en-US" altLang="zh-CN" sz="1400" dirty="0">
                <a:latin typeface="+mn-ea"/>
              </a:rPr>
              <a:t>GPU </a:t>
            </a:r>
            <a:r>
              <a:rPr lang="zh-CN" altLang="en-US" sz="1400" dirty="0">
                <a:latin typeface="+mn-ea"/>
              </a:rPr>
              <a:t>上</a:t>
            </a: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latin typeface="+mn-ea"/>
              </a:rPr>
              <a:t>    </a:t>
            </a:r>
            <a:r>
              <a:rPr lang="en-US" altLang="zh-CN" sz="1400" dirty="0">
                <a:latin typeface="+mn-ea"/>
              </a:rPr>
              <a:t>2. </a:t>
            </a:r>
            <a:r>
              <a:rPr lang="zh-CN" altLang="en-US" sz="1400" dirty="0">
                <a:latin typeface="+mn-ea"/>
              </a:rPr>
              <a:t>将总输入的</a:t>
            </a:r>
            <a:r>
              <a:rPr lang="en-US" altLang="zh-CN" sz="1400" dirty="0">
                <a:latin typeface="+mn-ea"/>
              </a:rPr>
              <a:t>batch</a:t>
            </a:r>
            <a:r>
              <a:rPr lang="zh-CN" altLang="en-US" sz="1400" dirty="0">
                <a:latin typeface="+mn-ea"/>
              </a:rPr>
              <a:t>数据进行均分，分别作为各对应</a:t>
            </a:r>
            <a:r>
              <a:rPr lang="en-US" altLang="zh-CN" sz="1400" dirty="0">
                <a:latin typeface="+mn-ea"/>
              </a:rPr>
              <a:t>GPU</a:t>
            </a:r>
            <a:r>
              <a:rPr lang="zh-CN" altLang="en-US" sz="1400" dirty="0">
                <a:latin typeface="+mn-ea"/>
              </a:rPr>
              <a:t>输入</a:t>
            </a: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latin typeface="+mn-ea"/>
              </a:rPr>
              <a:t>    </a:t>
            </a:r>
            <a:r>
              <a:rPr lang="en-US" altLang="zh-CN" sz="1400" dirty="0">
                <a:latin typeface="+mn-ea"/>
              </a:rPr>
              <a:t>3. </a:t>
            </a:r>
            <a:r>
              <a:rPr lang="zh-CN" altLang="en-US" sz="1400" dirty="0">
                <a:latin typeface="+mn-ea"/>
              </a:rPr>
              <a:t>每个</a:t>
            </a:r>
            <a:r>
              <a:rPr lang="en-US" altLang="zh-CN" sz="1400" dirty="0">
                <a:latin typeface="+mn-ea"/>
              </a:rPr>
              <a:t>GPU</a:t>
            </a:r>
            <a:r>
              <a:rPr lang="zh-CN" altLang="en-US" sz="1400" dirty="0">
                <a:latin typeface="+mn-ea"/>
              </a:rPr>
              <a:t>独立进行前向传播，并进行反向传播，并计算梯度</a:t>
            </a: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latin typeface="+mn-ea"/>
              </a:rPr>
              <a:t>    </a:t>
            </a:r>
            <a:r>
              <a:rPr lang="en-US" altLang="zh-CN" sz="1400" dirty="0">
                <a:latin typeface="+mn-ea"/>
              </a:rPr>
              <a:t>4. </a:t>
            </a:r>
            <a:r>
              <a:rPr lang="zh-CN" altLang="en-US" sz="1400" dirty="0">
                <a:latin typeface="+mn-ea"/>
              </a:rPr>
              <a:t>将各</a:t>
            </a:r>
            <a:r>
              <a:rPr lang="en-US" altLang="zh-CN" sz="1400" dirty="0">
                <a:latin typeface="+mn-ea"/>
              </a:rPr>
              <a:t>GPU</a:t>
            </a:r>
            <a:r>
              <a:rPr lang="zh-CN" altLang="en-US" sz="1400" dirty="0">
                <a:latin typeface="+mn-ea"/>
              </a:rPr>
              <a:t>的梯度汇总到 </a:t>
            </a:r>
            <a:r>
              <a:rPr lang="en-US" altLang="zh-CN" sz="1400" dirty="0">
                <a:latin typeface="+mn-ea"/>
              </a:rPr>
              <a:t>controller </a:t>
            </a:r>
            <a:r>
              <a:rPr lang="zh-CN" altLang="en-US" sz="1400" dirty="0">
                <a:latin typeface="+mn-ea"/>
              </a:rPr>
              <a:t>设备，并进行求和</a:t>
            </a: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latin typeface="+mn-ea"/>
              </a:rPr>
              <a:t>    </a:t>
            </a:r>
            <a:r>
              <a:rPr lang="en-US" altLang="zh-CN" sz="1400" dirty="0">
                <a:latin typeface="+mn-ea"/>
              </a:rPr>
              <a:t>5. </a:t>
            </a:r>
            <a:r>
              <a:rPr lang="zh-CN" altLang="en-US" sz="1400" dirty="0">
                <a:latin typeface="+mn-ea"/>
              </a:rPr>
              <a:t>更新 </a:t>
            </a:r>
            <a:r>
              <a:rPr lang="en-US" altLang="zh-CN" sz="1400" dirty="0">
                <a:latin typeface="+mn-ea"/>
              </a:rPr>
              <a:t>controller </a:t>
            </a:r>
            <a:r>
              <a:rPr lang="zh-CN" altLang="en-US" sz="1400" dirty="0">
                <a:latin typeface="+mn-ea"/>
              </a:rPr>
              <a:t>设备上的参数</a:t>
            </a:r>
            <a:endParaRPr lang="en-US" altLang="zh-CN" sz="1400" dirty="0">
              <a:latin typeface="+mn-ea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9C75130-043A-43D7-A958-1F551673E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868" y="3845045"/>
            <a:ext cx="2813381" cy="2173773"/>
          </a:xfrm>
          <a:prstGeom prst="rect">
            <a:avLst/>
          </a:prstGeom>
        </p:spPr>
      </p:pic>
      <p:sp>
        <p:nvSpPr>
          <p:cNvPr id="13" name="标题 2">
            <a:extLst>
              <a:ext uri="{FF2B5EF4-FFF2-40B4-BE49-F238E27FC236}">
                <a16:creationId xmlns:a16="http://schemas.microsoft.com/office/drawing/2014/main" id="{1683FC15-E1BE-4AFF-8E59-DD3B4E5EDADB}"/>
              </a:ext>
            </a:extLst>
          </p:cNvPr>
          <p:cNvSpPr txBox="1">
            <a:spLocks/>
          </p:cNvSpPr>
          <p:nvPr/>
        </p:nvSpPr>
        <p:spPr>
          <a:xfrm>
            <a:off x="487225" y="486888"/>
            <a:ext cx="2367164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000" dirty="0"/>
              <a:t>GPU</a:t>
            </a:r>
            <a:r>
              <a:rPr lang="zh-CN" altLang="en-US" sz="2000" dirty="0"/>
              <a:t>并行</a:t>
            </a:r>
          </a:p>
        </p:txBody>
      </p:sp>
    </p:spTree>
    <p:extLst>
      <p:ext uri="{BB962C8B-B14F-4D97-AF65-F5344CB8AC3E}">
        <p14:creationId xmlns:p14="http://schemas.microsoft.com/office/powerpoint/2010/main" val="6185175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0BB3134-BA04-4B6A-A7CE-E77B4E98A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97" y="1360206"/>
            <a:ext cx="11114128" cy="481916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用途：</a:t>
            </a:r>
            <a:endParaRPr lang="en-US" altLang="zh-CN" sz="1400" dirty="0"/>
          </a:p>
          <a:p>
            <a:pPr lvl="1">
              <a:lnSpc>
                <a:spcPct val="150000"/>
              </a:lnSpc>
            </a:pPr>
            <a:r>
              <a:rPr lang="zh-CN" altLang="en-US" sz="1400" dirty="0"/>
              <a:t>实现新的功能，但是</a:t>
            </a:r>
            <a:r>
              <a:rPr lang="en-US" altLang="zh-CN" sz="1400" dirty="0" err="1"/>
              <a:t>pytorch</a:t>
            </a:r>
            <a:r>
              <a:rPr lang="zh-CN" altLang="en-US" sz="1400" dirty="0"/>
              <a:t>不支持</a:t>
            </a:r>
            <a:endParaRPr lang="en-US" altLang="zh-CN" sz="1400" dirty="0"/>
          </a:p>
          <a:p>
            <a:pPr lvl="1">
              <a:lnSpc>
                <a:spcPct val="150000"/>
              </a:lnSpc>
            </a:pPr>
            <a:r>
              <a:rPr lang="zh-CN" altLang="en-US" sz="1400" dirty="0"/>
              <a:t>代码运行速度有要求</a:t>
            </a:r>
            <a:endParaRPr lang="en-US" altLang="zh-CN" sz="1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en-US" altLang="zh-CN" sz="1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途径</a:t>
            </a:r>
            <a:r>
              <a:rPr lang="en-US" altLang="zh-CN" sz="1400" dirty="0"/>
              <a:t>—C</a:t>
            </a:r>
            <a:r>
              <a:rPr lang="zh-CN" altLang="en-US" sz="1400" dirty="0"/>
              <a:t>拓展：</a:t>
            </a:r>
            <a:endParaRPr lang="en-US" altLang="zh-CN" sz="1400" dirty="0"/>
          </a:p>
          <a:p>
            <a:pPr lvl="1">
              <a:lnSpc>
                <a:spcPct val="150000"/>
              </a:lnSpc>
            </a:pPr>
            <a:r>
              <a:rPr lang="zh-CN" altLang="en-US" sz="1400" dirty="0"/>
              <a:t>准备</a:t>
            </a:r>
            <a:r>
              <a:rPr lang="en-US" altLang="zh-CN" sz="1400" dirty="0"/>
              <a:t>.c</a:t>
            </a:r>
            <a:r>
              <a:rPr lang="zh-CN" altLang="en-US" sz="1400" dirty="0"/>
              <a:t>文件实现</a:t>
            </a:r>
            <a:endParaRPr lang="en-US" altLang="zh-CN" sz="1400" dirty="0"/>
          </a:p>
          <a:p>
            <a:pPr lvl="1">
              <a:lnSpc>
                <a:spcPct val="150000"/>
              </a:lnSpc>
            </a:pPr>
            <a:r>
              <a:rPr lang="zh-CN" altLang="en-US" sz="1400" dirty="0"/>
              <a:t>利用工具编译为</a:t>
            </a:r>
            <a:r>
              <a:rPr lang="en-US" altLang="zh-CN" sz="1400" dirty="0"/>
              <a:t>python</a:t>
            </a:r>
            <a:r>
              <a:rPr lang="zh-CN" altLang="en-US" sz="1400" dirty="0"/>
              <a:t>可以调用的模块</a:t>
            </a:r>
            <a:endParaRPr lang="en-US" altLang="zh-CN" sz="1400" dirty="0"/>
          </a:p>
          <a:p>
            <a:pPr lvl="1">
              <a:lnSpc>
                <a:spcPct val="150000"/>
              </a:lnSpc>
            </a:pPr>
            <a:r>
              <a:rPr lang="zh-CN" altLang="en-US" sz="1400" dirty="0"/>
              <a:t>嵌入到</a:t>
            </a:r>
            <a:r>
              <a:rPr lang="en-US" altLang="zh-CN" sz="1400" dirty="0" err="1"/>
              <a:t>pytorch</a:t>
            </a:r>
            <a:r>
              <a:rPr lang="zh-CN" altLang="en-US" sz="1400" dirty="0"/>
              <a:t>网络中</a:t>
            </a:r>
            <a:endParaRPr lang="en-US" altLang="zh-CN" sz="14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1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实例展示</a:t>
            </a:r>
            <a:r>
              <a:rPr lang="en-US" altLang="zh-CN" sz="1400" dirty="0"/>
              <a:t>	</a:t>
            </a:r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C0116542-67BD-4172-83E4-F78AE86D113B}"/>
              </a:ext>
            </a:extLst>
          </p:cNvPr>
          <p:cNvSpPr txBox="1">
            <a:spLocks/>
          </p:cNvSpPr>
          <p:nvPr/>
        </p:nvSpPr>
        <p:spPr>
          <a:xfrm>
            <a:off x="487225" y="486888"/>
            <a:ext cx="2367164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000" dirty="0"/>
              <a:t>添加新的层</a:t>
            </a:r>
          </a:p>
        </p:txBody>
      </p:sp>
    </p:spTree>
    <p:extLst>
      <p:ext uri="{BB962C8B-B14F-4D97-AF65-F5344CB8AC3E}">
        <p14:creationId xmlns:p14="http://schemas.microsoft.com/office/powerpoint/2010/main" val="31470706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DF75A41-F41C-4377-A131-4E59E1649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324" y="2201779"/>
            <a:ext cx="5753915" cy="3295424"/>
          </a:xfrm>
          <a:prstGeom prst="rect">
            <a:avLst/>
          </a:prstGeom>
        </p:spPr>
      </p:pic>
      <p:sp>
        <p:nvSpPr>
          <p:cNvPr id="6" name="内容占位符 1">
            <a:extLst>
              <a:ext uri="{FF2B5EF4-FFF2-40B4-BE49-F238E27FC236}">
                <a16:creationId xmlns:a16="http://schemas.microsoft.com/office/drawing/2014/main" id="{45E6F73A-3E20-4A24-A7A4-99F52E3B1A58}"/>
              </a:ext>
            </a:extLst>
          </p:cNvPr>
          <p:cNvSpPr txBox="1">
            <a:spLocks/>
          </p:cNvSpPr>
          <p:nvPr/>
        </p:nvSpPr>
        <p:spPr>
          <a:xfrm>
            <a:off x="486099" y="1433233"/>
            <a:ext cx="11075437" cy="481916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p"/>
            </a:pPr>
            <a:r>
              <a:rPr lang="zh-CN" altLang="en-US" sz="1500" dirty="0"/>
              <a:t>安装：</a:t>
            </a:r>
            <a:endParaRPr lang="en-US" altLang="zh-CN" sz="1500" dirty="0"/>
          </a:p>
          <a:p>
            <a:pPr lvl="1">
              <a:lnSpc>
                <a:spcPct val="110000"/>
              </a:lnSpc>
            </a:pPr>
            <a:r>
              <a:rPr lang="zh-CN" altLang="en-US" sz="1500" dirty="0"/>
              <a:t>安装</a:t>
            </a:r>
            <a:r>
              <a:rPr lang="en-US" altLang="zh-CN" sz="1500" dirty="0" err="1"/>
              <a:t>tensorflow</a:t>
            </a:r>
            <a:r>
              <a:rPr lang="en-US" altLang="zh-CN" sz="1500" dirty="0"/>
              <a:t> </a:t>
            </a:r>
            <a:r>
              <a:rPr lang="zh-CN" altLang="en-US" sz="1500" dirty="0"/>
              <a:t>（</a:t>
            </a:r>
            <a:r>
              <a:rPr lang="en-US" altLang="zh-CN" sz="1500" dirty="0" err="1"/>
              <a:t>cpu</a:t>
            </a:r>
            <a:r>
              <a:rPr lang="zh-CN" altLang="en-US" sz="1500" dirty="0"/>
              <a:t>版本即可）</a:t>
            </a:r>
            <a:endParaRPr lang="en-US" altLang="zh-CN" sz="1500" dirty="0"/>
          </a:p>
          <a:p>
            <a:pPr lvl="1">
              <a:lnSpc>
                <a:spcPct val="110000"/>
              </a:lnSpc>
            </a:pPr>
            <a:r>
              <a:rPr lang="en-US" altLang="zh-CN" sz="1500" dirty="0"/>
              <a:t>pip install </a:t>
            </a:r>
            <a:r>
              <a:rPr lang="en-US" altLang="zh-CN" sz="1500" dirty="0" err="1"/>
              <a:t>tensorboardX</a:t>
            </a:r>
            <a:endParaRPr lang="en-US" altLang="zh-CN" sz="1500" dirty="0"/>
          </a:p>
          <a:p>
            <a:pPr marL="457200" lvl="1" indent="0">
              <a:lnSpc>
                <a:spcPct val="110000"/>
              </a:lnSpc>
              <a:buNone/>
            </a:pPr>
            <a:endParaRPr lang="en-US" altLang="zh-CN" sz="1500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p"/>
            </a:pPr>
            <a:r>
              <a:rPr lang="zh-CN" altLang="en-US" sz="1500" dirty="0"/>
              <a:t>使用</a:t>
            </a:r>
            <a:endParaRPr lang="en-US" altLang="zh-CN" sz="1500" dirty="0"/>
          </a:p>
          <a:p>
            <a:pPr lvl="1">
              <a:lnSpc>
                <a:spcPct val="110000"/>
              </a:lnSpc>
            </a:pPr>
            <a:r>
              <a:rPr lang="zh-CN" altLang="en-US" sz="1500" dirty="0"/>
              <a:t>初始化：</a:t>
            </a:r>
            <a:endParaRPr lang="en-US" altLang="zh-CN" sz="1500" dirty="0"/>
          </a:p>
          <a:p>
            <a:pPr marL="914400" lvl="2" indent="0">
              <a:lnSpc>
                <a:spcPct val="110000"/>
              </a:lnSpc>
              <a:buNone/>
            </a:pPr>
            <a:r>
              <a:rPr lang="en-US" altLang="zh-CN" sz="1500" dirty="0"/>
              <a:t>from </a:t>
            </a:r>
            <a:r>
              <a:rPr lang="en-US" altLang="zh-CN" sz="1500" dirty="0" err="1"/>
              <a:t>tensorboardX</a:t>
            </a:r>
            <a:r>
              <a:rPr lang="en-US" altLang="zh-CN" sz="1500" dirty="0"/>
              <a:t> import </a:t>
            </a:r>
            <a:r>
              <a:rPr lang="en-US" altLang="zh-CN" sz="1500" dirty="0" err="1"/>
              <a:t>SummaryWriter</a:t>
            </a:r>
            <a:endParaRPr lang="en-US" altLang="zh-CN" sz="1500" dirty="0"/>
          </a:p>
          <a:p>
            <a:pPr marL="914400" lvl="2" indent="0">
              <a:lnSpc>
                <a:spcPct val="110000"/>
              </a:lnSpc>
              <a:buNone/>
            </a:pPr>
            <a:r>
              <a:rPr lang="en-US" altLang="zh-CN" sz="1500" dirty="0"/>
              <a:t>writer = </a:t>
            </a:r>
            <a:r>
              <a:rPr lang="en-US" altLang="zh-CN" sz="1500" dirty="0" err="1"/>
              <a:t>SummaryWriter</a:t>
            </a:r>
            <a:r>
              <a:rPr lang="en-US" altLang="zh-CN" sz="1500" dirty="0"/>
              <a:t>('log‘)</a:t>
            </a:r>
          </a:p>
          <a:p>
            <a:pPr lvl="1">
              <a:lnSpc>
                <a:spcPct val="110000"/>
              </a:lnSpc>
            </a:pPr>
            <a:r>
              <a:rPr lang="zh-CN" altLang="en-US" sz="1500" dirty="0"/>
              <a:t>记录：</a:t>
            </a:r>
            <a:endParaRPr lang="en-US" altLang="zh-CN" sz="1500" dirty="0"/>
          </a:p>
          <a:p>
            <a:pPr marL="914400" lvl="2" indent="0">
              <a:lnSpc>
                <a:spcPct val="110000"/>
              </a:lnSpc>
              <a:buNone/>
            </a:pPr>
            <a:r>
              <a:rPr lang="en-US" altLang="zh-CN" sz="1500" dirty="0" err="1"/>
              <a:t>writer.add_scalar</a:t>
            </a:r>
            <a:r>
              <a:rPr lang="en-US" altLang="zh-CN" sz="1500" dirty="0"/>
              <a:t>('Train/Loss', </a:t>
            </a:r>
            <a:r>
              <a:rPr lang="en-US" altLang="zh-CN" sz="1500" dirty="0" err="1"/>
              <a:t>loss.data</a:t>
            </a:r>
            <a:r>
              <a:rPr lang="en-US" altLang="zh-CN" sz="1500" dirty="0"/>
              <a:t>[0], niter)</a:t>
            </a:r>
          </a:p>
          <a:p>
            <a:pPr marL="914400" lvl="2" indent="0">
              <a:lnSpc>
                <a:spcPct val="110000"/>
              </a:lnSpc>
              <a:buNone/>
            </a:pPr>
            <a:r>
              <a:rPr lang="en-US" altLang="zh-CN" sz="1500" dirty="0" err="1"/>
              <a:t>writer.add_scalar</a:t>
            </a:r>
            <a:r>
              <a:rPr lang="en-US" altLang="zh-CN" sz="1500" dirty="0"/>
              <a:t>('Test/</a:t>
            </a:r>
            <a:r>
              <a:rPr lang="en-US" altLang="zh-CN" sz="1500" dirty="0" err="1"/>
              <a:t>Accu</a:t>
            </a:r>
            <a:r>
              <a:rPr lang="en-US" altLang="zh-CN" sz="1500" dirty="0"/>
              <a:t>', correct/total, niter)</a:t>
            </a:r>
          </a:p>
          <a:p>
            <a:pPr lvl="1">
              <a:lnSpc>
                <a:spcPct val="110000"/>
              </a:lnSpc>
            </a:pPr>
            <a:r>
              <a:rPr lang="zh-CN" altLang="en-US" sz="1500" dirty="0"/>
              <a:t>可视化：</a:t>
            </a:r>
            <a:endParaRPr lang="en-US" altLang="zh-CN" sz="1500" dirty="0"/>
          </a:p>
          <a:p>
            <a:pPr marL="914400" lvl="2" indent="0">
              <a:lnSpc>
                <a:spcPct val="110000"/>
              </a:lnSpc>
              <a:buNone/>
            </a:pPr>
            <a:r>
              <a:rPr lang="en-US" altLang="zh-CN" sz="1500" dirty="0" err="1"/>
              <a:t>tensorboard</a:t>
            </a:r>
            <a:r>
              <a:rPr lang="en-US" altLang="zh-CN" sz="1500" dirty="0"/>
              <a:t> --</a:t>
            </a:r>
            <a:r>
              <a:rPr lang="en-US" altLang="zh-CN" sz="1500" dirty="0" err="1"/>
              <a:t>logdir</a:t>
            </a:r>
            <a:r>
              <a:rPr lang="en-US" altLang="zh-CN" sz="1500" dirty="0"/>
              <a:t>=./log</a:t>
            </a:r>
          </a:p>
          <a:p>
            <a:pPr marL="914400" lvl="2" indent="0">
              <a:lnSpc>
                <a:spcPct val="110000"/>
              </a:lnSpc>
              <a:buNone/>
            </a:pPr>
            <a:r>
              <a:rPr lang="en-US" altLang="zh-CN" sz="1500" dirty="0">
                <a:hlinkClick r:id="rId3"/>
              </a:rPr>
              <a:t>http://0.0.0.0:6006/</a:t>
            </a:r>
            <a:endParaRPr lang="en-US" altLang="zh-CN" sz="1500" dirty="0"/>
          </a:p>
          <a:p>
            <a:pPr marL="914400" lvl="2" indent="0">
              <a:lnSpc>
                <a:spcPct val="110000"/>
              </a:lnSpc>
              <a:buNone/>
            </a:pPr>
            <a:endParaRPr lang="en-US" altLang="zh-CN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500" dirty="0" err="1"/>
              <a:t>ps</a:t>
            </a:r>
            <a:r>
              <a:rPr lang="zh-CN" altLang="en-US" sz="1500" dirty="0"/>
              <a:t>：服务器必须和本机联网</a:t>
            </a:r>
            <a:endParaRPr lang="en-US" altLang="zh-CN" sz="15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6F59D4-4349-4321-B0E4-A1EC8E50580D}"/>
              </a:ext>
            </a:extLst>
          </p:cNvPr>
          <p:cNvSpPr/>
          <p:nvPr/>
        </p:nvSpPr>
        <p:spPr>
          <a:xfrm>
            <a:off x="2954999" y="6277986"/>
            <a:ext cx="38779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>
                <a:latin typeface="+mn-ea"/>
              </a:rPr>
              <a:t>https://github.com/lanpa/tensorboardX 	</a:t>
            </a:r>
          </a:p>
        </p:txBody>
      </p:sp>
      <p:sp>
        <p:nvSpPr>
          <p:cNvPr id="8" name="标题 2">
            <a:extLst>
              <a:ext uri="{FF2B5EF4-FFF2-40B4-BE49-F238E27FC236}">
                <a16:creationId xmlns:a16="http://schemas.microsoft.com/office/drawing/2014/main" id="{15593296-2318-4C51-ABB6-D8F440C6AF18}"/>
              </a:ext>
            </a:extLst>
          </p:cNvPr>
          <p:cNvSpPr txBox="1">
            <a:spLocks/>
          </p:cNvSpPr>
          <p:nvPr/>
        </p:nvSpPr>
        <p:spPr>
          <a:xfrm>
            <a:off x="487225" y="486888"/>
            <a:ext cx="2367164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000" dirty="0" err="1"/>
              <a:t>tensorboardX</a:t>
            </a:r>
            <a:r>
              <a:rPr lang="zh-CN" altLang="en-US" sz="2000" dirty="0"/>
              <a:t>可视化</a:t>
            </a:r>
          </a:p>
        </p:txBody>
      </p:sp>
    </p:spTree>
    <p:extLst>
      <p:ext uri="{BB962C8B-B14F-4D97-AF65-F5344CB8AC3E}">
        <p14:creationId xmlns:p14="http://schemas.microsoft.com/office/powerpoint/2010/main" val="562989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4E2F074-254A-4905-AE01-90F5B3D52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099" y="1286793"/>
            <a:ext cx="11075437" cy="481916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固定部分网络参数 </a:t>
            </a:r>
            <a:r>
              <a:rPr lang="en-US" altLang="zh-CN" sz="1400" dirty="0">
                <a:hlinkClick r:id="rId2"/>
              </a:rPr>
              <a:t>https://cdn2.jianshu.io/p/4ec8e310495d</a:t>
            </a:r>
            <a:endParaRPr lang="en-US" altLang="zh-CN" sz="14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/>
              <a:t>C++</a:t>
            </a:r>
            <a:r>
              <a:rPr lang="zh-CN" altLang="en-US" sz="1400" dirty="0"/>
              <a:t>拓展 </a:t>
            </a:r>
            <a:r>
              <a:rPr lang="en-US" altLang="zh-CN" sz="1400" dirty="0">
                <a:hlinkClick r:id="rId3"/>
              </a:rPr>
              <a:t>https://oldpan.me/archives/pytorch-cuda-c-plus-plus</a:t>
            </a:r>
            <a:endParaRPr lang="en-US" altLang="zh-CN" sz="14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不同层设置不同学习率 </a:t>
            </a:r>
            <a:r>
              <a:rPr lang="en-US" altLang="zh-CN" sz="1400" dirty="0">
                <a:hlinkClick r:id="rId4"/>
              </a:rPr>
              <a:t>https://blog.csdn.net/wangbin12122224/article/details/79949824</a:t>
            </a:r>
            <a:endParaRPr lang="en-US" altLang="zh-CN" sz="14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 err="1"/>
              <a:t>tensorboardX</a:t>
            </a:r>
            <a:r>
              <a:rPr lang="zh-CN" altLang="en-US" sz="1400" dirty="0"/>
              <a:t>可视化 </a:t>
            </a:r>
            <a:r>
              <a:rPr lang="en-US" altLang="zh-CN" sz="1400" dirty="0">
                <a:hlinkClick r:id="rId5"/>
              </a:rPr>
              <a:t>https://zhuanlan.zhihu.com/p/35675109</a:t>
            </a:r>
            <a:endParaRPr lang="en-US" altLang="zh-CN" sz="1400" dirty="0"/>
          </a:p>
          <a:p>
            <a:pPr marL="0" indent="0">
              <a:lnSpc>
                <a:spcPct val="200000"/>
              </a:lnSpc>
              <a:buNone/>
            </a:pPr>
            <a:endParaRPr lang="en-US" altLang="zh-CN" sz="14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其他注意事项：</a:t>
            </a:r>
            <a:endParaRPr lang="en-US" altLang="zh-CN" sz="1400" dirty="0"/>
          </a:p>
          <a:p>
            <a:pPr marL="457200" lvl="1" indent="0">
              <a:lnSpc>
                <a:spcPct val="200000"/>
              </a:lnSpc>
              <a:buNone/>
            </a:pPr>
            <a:r>
              <a:rPr lang="zh-CN" altLang="en-US" sz="1400" dirty="0"/>
              <a:t>官方网站是最好最权威的学习网站</a:t>
            </a:r>
            <a:endParaRPr lang="en-US" altLang="zh-CN" sz="1400" dirty="0"/>
          </a:p>
          <a:p>
            <a:pPr marL="457200" lvl="1" indent="0">
              <a:lnSpc>
                <a:spcPct val="200000"/>
              </a:lnSpc>
              <a:buNone/>
            </a:pPr>
            <a:r>
              <a:rPr lang="zh-CN" altLang="en-US" sz="1400" dirty="0"/>
              <a:t>有问题先找</a:t>
            </a:r>
            <a:r>
              <a:rPr lang="en-US" altLang="zh-CN" sz="1400" dirty="0"/>
              <a:t>google</a:t>
            </a:r>
            <a:r>
              <a:rPr lang="zh-CN" altLang="en-US" sz="1400" dirty="0"/>
              <a:t>，注意带上</a:t>
            </a:r>
            <a:r>
              <a:rPr lang="en-US" altLang="zh-CN" sz="1400" dirty="0" err="1"/>
              <a:t>pytorch</a:t>
            </a:r>
            <a:r>
              <a:rPr lang="zh-CN" altLang="en-US" sz="1400" dirty="0"/>
              <a:t>版本号</a:t>
            </a:r>
            <a:endParaRPr lang="en-US" altLang="zh-CN" sz="1400" dirty="0"/>
          </a:p>
          <a:p>
            <a:pPr marL="457200" lvl="1" indent="0">
              <a:buNone/>
            </a:pPr>
            <a:endParaRPr lang="zh-CN" altLang="en-US" sz="1600" dirty="0"/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52D6936C-F52A-498A-B00A-A55E00F4FC48}"/>
              </a:ext>
            </a:extLst>
          </p:cNvPr>
          <p:cNvSpPr txBox="1">
            <a:spLocks/>
          </p:cNvSpPr>
          <p:nvPr/>
        </p:nvSpPr>
        <p:spPr>
          <a:xfrm>
            <a:off x="487225" y="486888"/>
            <a:ext cx="2367164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000" dirty="0"/>
              <a:t>其他参考资料</a:t>
            </a:r>
          </a:p>
        </p:txBody>
      </p:sp>
    </p:spTree>
    <p:extLst>
      <p:ext uri="{BB962C8B-B14F-4D97-AF65-F5344CB8AC3E}">
        <p14:creationId xmlns:p14="http://schemas.microsoft.com/office/powerpoint/2010/main" val="4977616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B3C351B-C375-45A2-97A5-2EFAFD23E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94" y="1286791"/>
            <a:ext cx="11635634" cy="481916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实现</a:t>
            </a:r>
            <a:r>
              <a:rPr lang="en-US" altLang="zh-CN" sz="1400" dirty="0"/>
              <a:t>dataset</a:t>
            </a:r>
          </a:p>
          <a:p>
            <a:pPr marL="457200" lvl="1" indent="0">
              <a:lnSpc>
                <a:spcPct val="200000"/>
              </a:lnSpc>
              <a:buNone/>
            </a:pPr>
            <a:r>
              <a:rPr lang="zh-CN" altLang="en-US" sz="1400" dirty="0"/>
              <a:t>数据集格式为</a:t>
            </a:r>
            <a:r>
              <a:rPr lang="en-US" altLang="zh-CN" sz="1400" dirty="0"/>
              <a:t>list</a:t>
            </a:r>
            <a:r>
              <a:rPr lang="zh-CN" altLang="en-US" sz="1400" dirty="0"/>
              <a:t>，每行内容为图像路径</a:t>
            </a:r>
            <a:r>
              <a:rPr lang="en-US" altLang="zh-CN" sz="1400" dirty="0"/>
              <a:t>+label</a:t>
            </a:r>
            <a:r>
              <a:rPr lang="zh-CN" altLang="en-US" sz="1400" dirty="0"/>
              <a:t>，请实现一个新的</a:t>
            </a:r>
            <a:r>
              <a:rPr lang="en-US" altLang="zh-CN" sz="1400" dirty="0"/>
              <a:t>dataset</a:t>
            </a:r>
            <a:r>
              <a:rPr lang="zh-CN" altLang="en-US" sz="1400" dirty="0"/>
              <a:t>从此格式读取数据，并训练</a:t>
            </a:r>
            <a:r>
              <a:rPr lang="en-US" altLang="zh-CN" sz="1400" dirty="0" err="1"/>
              <a:t>minist</a:t>
            </a:r>
            <a:r>
              <a:rPr lang="zh-CN" altLang="en-US" sz="1400" dirty="0"/>
              <a:t>模型</a:t>
            </a:r>
            <a:endParaRPr lang="en-US" altLang="zh-CN" sz="14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/>
              <a:t>实现</a:t>
            </a:r>
            <a:r>
              <a:rPr lang="en-US" altLang="zh-CN" sz="1400" dirty="0"/>
              <a:t>transform</a:t>
            </a:r>
          </a:p>
          <a:p>
            <a:pPr marL="457200" lvl="1" indent="0">
              <a:lnSpc>
                <a:spcPct val="200000"/>
              </a:lnSpc>
              <a:buNone/>
            </a:pPr>
            <a:r>
              <a:rPr lang="zh-CN" altLang="en-US" sz="1400" dirty="0"/>
              <a:t>随机旋转数据增广，图像可随机进行</a:t>
            </a:r>
            <a:r>
              <a:rPr lang="en-US" altLang="zh-CN" sz="1400" dirty="0"/>
              <a:t>0,90,180,270</a:t>
            </a:r>
            <a:r>
              <a:rPr lang="zh-CN" altLang="en-US" sz="1400" dirty="0"/>
              <a:t>度旋转，加入到</a:t>
            </a:r>
            <a:r>
              <a:rPr lang="en-US" altLang="zh-CN" sz="1400" dirty="0" err="1"/>
              <a:t>minist</a:t>
            </a:r>
            <a:r>
              <a:rPr lang="zh-CN" altLang="en-US" sz="1400" dirty="0"/>
              <a:t>模型训练中</a:t>
            </a:r>
            <a:endParaRPr lang="en-US" altLang="zh-CN" sz="1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A94E26F-0BC5-4E00-AAE6-FA84D8D9D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25" y="4057007"/>
            <a:ext cx="2129901" cy="16205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2F99C4C-60DB-4F79-8BA6-AEAACF538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981" y="3871932"/>
            <a:ext cx="2085975" cy="19907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28A91C0-5DB7-4BEB-A58B-01F7C6134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812" y="4057007"/>
            <a:ext cx="6277813" cy="1620577"/>
          </a:xfrm>
          <a:prstGeom prst="rect">
            <a:avLst/>
          </a:prstGeom>
        </p:spPr>
      </p:pic>
      <p:sp>
        <p:nvSpPr>
          <p:cNvPr id="9" name="标题 2">
            <a:extLst>
              <a:ext uri="{FF2B5EF4-FFF2-40B4-BE49-F238E27FC236}">
                <a16:creationId xmlns:a16="http://schemas.microsoft.com/office/drawing/2014/main" id="{E45974A8-DB68-48F6-8876-30F678CDF5FC}"/>
              </a:ext>
            </a:extLst>
          </p:cNvPr>
          <p:cNvSpPr txBox="1">
            <a:spLocks/>
          </p:cNvSpPr>
          <p:nvPr/>
        </p:nvSpPr>
        <p:spPr>
          <a:xfrm>
            <a:off x="487225" y="486888"/>
            <a:ext cx="2367164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000" dirty="0"/>
              <a:t>作业</a:t>
            </a:r>
          </a:p>
        </p:txBody>
      </p:sp>
    </p:spTree>
    <p:extLst>
      <p:ext uri="{BB962C8B-B14F-4D97-AF65-F5344CB8AC3E}">
        <p14:creationId xmlns:p14="http://schemas.microsoft.com/office/powerpoint/2010/main" val="18979890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F36AA8D-C796-427D-9118-947AEA19A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225" y="1284005"/>
            <a:ext cx="11117400" cy="3745195"/>
          </a:xfrm>
        </p:spPr>
        <p:txBody>
          <a:bodyPr/>
          <a:lstStyle/>
          <a:p>
            <a:pPr marL="0" lvl="0" indent="0">
              <a:lnSpc>
                <a:spcPct val="20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zh-CN" altLang="en-US" sz="1800" b="1" dirty="0">
                <a:latin typeface="+mn-ea"/>
                <a:ea typeface="+mn-ea"/>
              </a:rPr>
              <a:t>图像分类理论及代码实践</a:t>
            </a:r>
            <a:endParaRPr lang="en-US" altLang="zh-CN" sz="1800" b="1" dirty="0">
              <a:latin typeface="+mn-ea"/>
              <a:ea typeface="+mn-ea"/>
            </a:endParaRPr>
          </a:p>
          <a:p>
            <a:pPr marL="0" lvl="0" indent="0">
              <a:lnSpc>
                <a:spcPct val="200000"/>
              </a:lnSpc>
              <a:spcBef>
                <a:spcPts val="0"/>
              </a:spcBef>
              <a:buClr>
                <a:srgbClr val="6F1B1B"/>
              </a:buClr>
              <a:buFont typeface="Wingdings" panose="05000000000000000000" pitchFamily="2" charset="2"/>
              <a:buChar char="ü"/>
            </a:pPr>
            <a:r>
              <a:rPr lang="zh-CN" altLang="en-US" sz="1800" b="1" dirty="0">
                <a:solidFill>
                  <a:prstClr val="black"/>
                </a:solidFill>
                <a:latin typeface="+mn-ea"/>
                <a:ea typeface="+mn-ea"/>
              </a:rPr>
              <a:t>目标检测理论及代码详解</a:t>
            </a:r>
            <a:endParaRPr lang="en-US" altLang="zh-CN" sz="1800" b="1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6F1B1B"/>
              </a:buClr>
              <a:buNone/>
            </a:pPr>
            <a:endParaRPr lang="zh-CN" altLang="en-US" dirty="0"/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EA4B1AE1-EA94-4E79-9124-0C9D0697CB70}"/>
              </a:ext>
            </a:extLst>
          </p:cNvPr>
          <p:cNvSpPr txBox="1">
            <a:spLocks/>
          </p:cNvSpPr>
          <p:nvPr/>
        </p:nvSpPr>
        <p:spPr>
          <a:xfrm>
            <a:off x="487225" y="486888"/>
            <a:ext cx="2367164" cy="458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000" dirty="0"/>
              <a:t>下章内容</a:t>
            </a:r>
          </a:p>
        </p:txBody>
      </p:sp>
    </p:spTree>
    <p:extLst>
      <p:ext uri="{BB962C8B-B14F-4D97-AF65-F5344CB8AC3E}">
        <p14:creationId xmlns:p14="http://schemas.microsoft.com/office/powerpoint/2010/main" val="19819166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82B9E86-EEB9-4471-A438-BADC573D970E}"/>
              </a:ext>
            </a:extLst>
          </p:cNvPr>
          <p:cNvSpPr txBox="1"/>
          <p:nvPr/>
        </p:nvSpPr>
        <p:spPr>
          <a:xfrm>
            <a:off x="4495170" y="2721114"/>
            <a:ext cx="4429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464646"/>
                </a:solidFill>
                <a:latin typeface="微软雅黑" panose="020B0503020204020204" charset="-122"/>
                <a:ea typeface="微软雅黑" panose="020B0503020204020204" charset="-122"/>
              </a:rPr>
              <a:t>感谢各位聆听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B1A53D-0DFA-4DC4-A68A-48957BE849B4}"/>
              </a:ext>
            </a:extLst>
          </p:cNvPr>
          <p:cNvSpPr txBox="1"/>
          <p:nvPr/>
        </p:nvSpPr>
        <p:spPr>
          <a:xfrm>
            <a:off x="4408810" y="3634259"/>
            <a:ext cx="460248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67" b="1" dirty="0">
                <a:solidFill>
                  <a:srgbClr val="464646"/>
                </a:solidFill>
                <a:latin typeface="+mn-ea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566597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等线 Light"/>
        <a:ea typeface="黑体"/>
        <a:cs typeface=""/>
      </a:majorFont>
      <a:minorFont>
        <a:latin typeface="等线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7856</TotalTime>
  <Words>2770</Words>
  <Application>Microsoft Office PowerPoint</Application>
  <PresentationFormat>宽屏</PresentationFormat>
  <Paragraphs>382</Paragraphs>
  <Slides>38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6" baseType="lpstr">
      <vt:lpstr>等线</vt:lpstr>
      <vt:lpstr>等线 Light</vt:lpstr>
      <vt:lpstr>微软雅黑</vt:lpstr>
      <vt:lpstr>Arial</vt:lpstr>
      <vt:lpstr>Cambria Math</vt:lpstr>
      <vt:lpstr>Franklin Gothic Book</vt:lpstr>
      <vt:lpstr>Wingdings</vt:lpstr>
      <vt:lpstr>Office 主题​​</vt:lpstr>
      <vt:lpstr>PowerPoint 演示文稿</vt:lpstr>
      <vt:lpstr>课程内容</vt:lpstr>
      <vt:lpstr>课程内容</vt:lpstr>
      <vt:lpstr>目前流行的深度学习框架</vt:lpstr>
      <vt:lpstr>Why Pytorch？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T134430</dc:creator>
  <cp:lastModifiedBy> </cp:lastModifiedBy>
  <cp:revision>139</cp:revision>
  <dcterms:created xsi:type="dcterms:W3CDTF">2018-11-09T06:52:32Z</dcterms:created>
  <dcterms:modified xsi:type="dcterms:W3CDTF">2021-03-03T10:19:41Z</dcterms:modified>
</cp:coreProperties>
</file>